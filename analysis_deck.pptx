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  <p:sldMasterId id="2147483662" r:id="rId2"/>
  </p:sldMasterIdLst>
  <p:notesMasterIdLst>
    <p:notesMasterId r:id="rId3"/>
  </p:notesMasterIdLst>
  <p:sldIdLst>
    <p:sldId id="396" r:id="rId4"/>
    <p:sldId id="397" r:id="rId5"/>
    <p:sldId id="398" r:id="rId6"/>
    <p:sldId id="414" r:id="rId7"/>
    <p:sldId id="416" r:id="rId8"/>
    <p:sldId id="400" r:id="rId9"/>
    <p:sldId id="406" r:id="rId10"/>
    <p:sldId id="402" r:id="rId11"/>
    <p:sldId id="407" r:id="rId12"/>
    <p:sldId id="417" r:id="rId13"/>
    <p:sldId id="404" r:id="rId14"/>
    <p:sldId id="408" r:id="rId15"/>
  </p:sldIdLst>
  <p:sldSz cx="12192000" cy="6858000"/>
  <p:notesSz cx="6802438" cy="9934575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940675A-B579-460E-94D1-54222C63F5DA}" styleName="No Style, Table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20312"/>
    <p:restoredTop sz="96170"/>
  </p:normalViewPr>
  <p:slideViewPr>
    <p:cSldViewPr>
      <p:cViewPr varScale="1">
        <p:scale>
          <a:sx n="100" d="100"/>
          <a:sy n="100" d="100"/>
        </p:scale>
        <p:origin x="800" y="760"/>
      </p:cViewPr>
      <p:guideLst>
        <p:guide orient="horz" pos="2159"/>
        <p:guide pos="3839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Master" Target="slideMasters/slideMaster2.xml"  /><Relationship Id="rId3" Type="http://schemas.openxmlformats.org/officeDocument/2006/relationships/notesMaster" Target="notesMasters/notes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1" y="2"/>
            <a:ext cx="2947723" cy="498454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3142" y="2"/>
            <a:ext cx="2947723" cy="498454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A8CDE508-72C8-4AB5-AA9C-1584D31690E0}" type="datetime1">
              <a:rPr lang="en-US"/>
              <a:pPr lvl="0">
                <a:defRPr/>
              </a:pPr>
              <a:t>5/18/2026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22275" y="1243013"/>
            <a:ext cx="5957888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244" y="4781018"/>
            <a:ext cx="5441950" cy="3352918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 altLang="ko-KR"/>
              <a:t>Click to edit Master text styles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Second level</a:t>
            </a:r>
            <a:endParaRPr lang="en-US" altLang="ko-KR"/>
          </a:p>
          <a:p>
            <a:pPr lvl="2">
              <a:defRPr/>
            </a:pPr>
            <a:r>
              <a:rPr lang="en-US" altLang="ko-KR"/>
              <a:t>Third level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Fourth level</a:t>
            </a:r>
            <a:endParaRPr lang="en-US" altLang="ko-KR"/>
          </a:p>
          <a:p>
            <a:pPr lvl="4">
              <a:defRPr/>
            </a:pPr>
            <a:r>
              <a:rPr lang="en-US" altLang="ko-KR"/>
              <a:t>Fifth level</a:t>
            </a:r>
            <a:endParaRPr lang="en-US" alt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6123"/>
            <a:ext cx="2947723" cy="498452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3142" y="9436123"/>
            <a:ext cx="2947723" cy="498452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7FB667E1-E601-4AAF-B95C-B25720D70A60}" type="slidenum">
              <a:rPr/>
              <a:pPr lvl="0"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0243" y="4781014"/>
            <a:ext cx="5441950" cy="391173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3" name="Google Shape;83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53307" y="1241822"/>
            <a:ext cx="2295822" cy="3352919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374553640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0818251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3" name="Google Shape;103;p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2880376693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09" name="Google Shape;10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0" name="Google Shape;11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35926733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09" name="Google Shape;10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0" name="Google Shape;11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70456329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3" name="Google Shape;103;p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1495474551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09" name="Google Shape;10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0" name="Google Shape;11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73532436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3" name="Google Shape;103;p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1953977308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09" name="Google Shape;10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0" name="Google Shape;11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2402897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09" name="Google Shape;10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0" name="Google Shape;11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32337529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3" name="Google Shape;103;p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3192583952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09" name="Google Shape;10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0" name="Google Shape;11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662398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2.jpeg"  /><Relationship Id="rId3" Type="http://schemas.openxmlformats.org/officeDocument/2006/relationships/image" Target="../media/image3.png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png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png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png"  /></Relationships>
</file>

<file path=ppt/slideLayouts/_rels/slideLayout1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png"  /></Relationships>
</file>

<file path=ppt/slideLayouts/_rels/slideLayout1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png"  /></Relationships>
</file>

<file path=ppt/slideLayouts/_rels/slideLayout2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pn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399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6pPr>
              <a:defRPr/>
            </a:lvl6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2536CB8-F384-41F5-9A13-5525A14F6115}" type="datetime1">
              <a:rPr lang="en-US"/>
              <a:t>4/24/26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80470E-3E49-4166-8FDE-B4B231F96343}" type="datetime1">
              <a:rPr lang="en-US"/>
              <a:t>4/24/26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Alternate 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9C6305C-FBE6-4432-984C-F014356066E0}" type="datetime1">
              <a:rPr lang="en-US"/>
              <a:t>4/24/26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F533CFF-D905-4362-8694-2B08F6E2EA39}" type="datetime1">
              <a:rPr lang="en-US"/>
              <a:t>4/24/26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ECE5F2-81AA-4605-B028-6FBA391056A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341120" y="466344"/>
            <a:ext cx="9509760" cy="123444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F26A8B8-6B3D-4779-A1CC-09767831A91A}" type="datetime1">
              <a:rPr lang="en-US"/>
              <a:t>4/24/26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E37F0F-C8F1-4757-B6DF-F80D7A79B872}" type="datetime1">
              <a:rPr lang="en-US"/>
              <a:t>4/24/26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2DFD81F-BFBF-415D-8405-C0F93516B68D}" type="datetime1">
              <a:rPr lang="en-US"/>
              <a:t>4/24/26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60412" y="2362199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3BB29C7-623B-4106-BC28-43A8B3502422}" type="datetime1">
              <a:rPr lang="en-US"/>
              <a:t>4/24/26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Alternate 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60412" y="2362199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43F99CD-2C18-4A2E-8316-6DD2578C3BFD}" type="datetime1">
              <a:rPr lang="en-US"/>
              <a:t>4/24/26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923214" y="2362199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 bwMode="auto">
          <a:xfrm>
            <a:off x="0" y="0"/>
            <a:ext cx="7315200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A953EF-EC43-4647-B8AE-539F1EE3834D}" type="datetime1">
              <a:rPr lang="en-US"/>
              <a:t>4/24/26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854C4A4-9779-4099-B329-474746D321FE}" type="datetime1">
              <a:rPr lang="en-US"/>
              <a:t>4/24/26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274638"/>
            <a:ext cx="2628900" cy="5897562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274638"/>
            <a:ext cx="7734300" cy="5897562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GWANGJU INSTITUTE OF SCIENCE AND TECHNOLOGY (GIST) SEMINAR, JULY 12, 2019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303420-E7D0-4F09-96D8-181EC29F25F4}" type="datetime1">
              <a:rPr lang="en-US"/>
              <a:t>4/24/26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8D9AD5-F248-4919-864A-CFD76CC027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 txBox="1">
            <a:spLocks noGrp="1"/>
          </p:cNvSpPr>
          <p:nvPr>
            <p:ph type="ctrTitle" idx="0"/>
          </p:nvPr>
        </p:nvSpPr>
        <p:spPr>
          <a:xfrm>
            <a:off x="522901" y="1122363"/>
            <a:ext cx="1114619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ubTitle" idx="1"/>
          </p:nvPr>
        </p:nvSpPr>
        <p:spPr>
          <a:xfrm>
            <a:off x="1178560" y="3602038"/>
            <a:ext cx="983488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 lvl="0"/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dt" idx="10"/>
          </p:nvPr>
        </p:nvSpPr>
        <p:spPr>
          <a:xfrm>
            <a:off x="2499360" y="6478271"/>
            <a:ext cx="1529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ftr" idx="11"/>
          </p:nvPr>
        </p:nvSpPr>
        <p:spPr>
          <a:xfrm>
            <a:off x="4038600" y="64782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sldNum" idx="12"/>
          </p:nvPr>
        </p:nvSpPr>
        <p:spPr>
          <a:xfrm>
            <a:off x="8610600" y="6478271"/>
            <a:ext cx="322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33" descr="텍스트이(가) 표시된 사진  자동 생성된 설명"/>
          <p:cNvPicPr/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9908116" y="41621"/>
            <a:ext cx="2180166" cy="60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3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5399616" y="-50109"/>
            <a:ext cx="1440000" cy="788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277177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>
            <a:spLocks noGrp="1"/>
          </p:cNvSpPr>
          <p:nvPr>
            <p:ph type="title" idx="0"/>
          </p:nvPr>
        </p:nvSpPr>
        <p:spPr>
          <a:xfrm>
            <a:off x="355600" y="365126"/>
            <a:ext cx="11480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dt" idx="10"/>
          </p:nvPr>
        </p:nvSpPr>
        <p:spPr>
          <a:xfrm>
            <a:off x="2499360" y="6478271"/>
            <a:ext cx="1529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ftr" idx="11"/>
          </p:nvPr>
        </p:nvSpPr>
        <p:spPr>
          <a:xfrm>
            <a:off x="4038600" y="64782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sldNum" idx="12"/>
          </p:nvPr>
        </p:nvSpPr>
        <p:spPr>
          <a:xfrm>
            <a:off x="8610600" y="6478271"/>
            <a:ext cx="322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" name="Google Shape;31;p34"/>
          <p:cNvGrpSpPr/>
          <p:nvPr/>
        </p:nvGrpSpPr>
        <p:grpSpPr>
          <a:xfrm rot="0">
            <a:off x="5042" y="6500230"/>
            <a:ext cx="2532164" cy="357770"/>
            <a:chOff x="3782" y="6500230"/>
            <a:chExt cx="1899123" cy="357770"/>
          </a:xfrm>
        </p:grpSpPr>
        <p:pic>
          <p:nvPicPr>
            <p:cNvPr id="32" name="Google Shape;32;p34"/>
            <p:cNvPicPr/>
            <p:nvPr/>
          </p:nvPicPr>
          <p:blipFill rotWithShape="1">
            <a:blip r:embed="rId2">
              <a:alphaModFix/>
            </a:blip>
            <a:srcRect t="23865" b="23796"/>
            <a:stretch>
              <a:fillRect/>
            </a:stretch>
          </p:blipFill>
          <p:spPr>
            <a:xfrm>
              <a:off x="3782" y="6512758"/>
              <a:ext cx="921184" cy="3452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33;p34"/>
            <p:cNvSpPr txBox="1"/>
            <p:nvPr/>
          </p:nvSpPr>
          <p:spPr>
            <a:xfrm>
              <a:off x="756095" y="6500230"/>
              <a:ext cx="11468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School of Chem. Eng.</a:t>
              </a:r>
              <a:endPara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SungKyunKwan Univ.</a:t>
              </a: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119418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6"/>
          <p:cNvSpPr txBox="1">
            <a:spLocks noGrp="1"/>
          </p:cNvSpPr>
          <p:nvPr>
            <p:ph type="title" idx="0"/>
          </p:nvPr>
        </p:nvSpPr>
        <p:spPr>
          <a:xfrm>
            <a:off x="355600" y="1709739"/>
            <a:ext cx="1146810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1"/>
          </p:nvPr>
        </p:nvSpPr>
        <p:spPr>
          <a:xfrm>
            <a:off x="355600" y="4589464"/>
            <a:ext cx="1146810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dt" idx="10"/>
          </p:nvPr>
        </p:nvSpPr>
        <p:spPr>
          <a:xfrm>
            <a:off x="2499360" y="6478271"/>
            <a:ext cx="1529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4038600" y="64782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8610600" y="6478271"/>
            <a:ext cx="322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" name="Google Shape;40;p36"/>
          <p:cNvGrpSpPr/>
          <p:nvPr/>
        </p:nvGrpSpPr>
        <p:grpSpPr>
          <a:xfrm rot="0">
            <a:off x="5042" y="6500230"/>
            <a:ext cx="2532164" cy="357770"/>
            <a:chOff x="3782" y="6500230"/>
            <a:chExt cx="1899123" cy="357770"/>
          </a:xfrm>
        </p:grpSpPr>
        <p:pic>
          <p:nvPicPr>
            <p:cNvPr id="41" name="Google Shape;41;p36"/>
            <p:cNvPicPr/>
            <p:nvPr/>
          </p:nvPicPr>
          <p:blipFill rotWithShape="1">
            <a:blip r:embed="rId2">
              <a:alphaModFix/>
            </a:blip>
            <a:srcRect t="23865" b="23796"/>
            <a:stretch>
              <a:fillRect/>
            </a:stretch>
          </p:blipFill>
          <p:spPr>
            <a:xfrm>
              <a:off x="3782" y="6512758"/>
              <a:ext cx="921184" cy="3452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6"/>
            <p:cNvSpPr txBox="1"/>
            <p:nvPr/>
          </p:nvSpPr>
          <p:spPr>
            <a:xfrm>
              <a:off x="756095" y="6500230"/>
              <a:ext cx="11468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School of Chem. Eng.</a:t>
              </a:r>
              <a:endParaRPr lang="en-US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SungKyunKwan Univ.</a:t>
              </a: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80326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>
            <a:spLocks noGrp="1"/>
          </p:cNvSpPr>
          <p:nvPr>
            <p:ph type="title" idx="0"/>
          </p:nvPr>
        </p:nvSpPr>
        <p:spPr>
          <a:xfrm>
            <a:off x="355600" y="365126"/>
            <a:ext cx="11480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1"/>
          </p:nvPr>
        </p:nvSpPr>
        <p:spPr>
          <a:xfrm>
            <a:off x="355600" y="1097280"/>
            <a:ext cx="11480800" cy="50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dt" idx="10"/>
          </p:nvPr>
        </p:nvSpPr>
        <p:spPr>
          <a:xfrm>
            <a:off x="2499360" y="6478271"/>
            <a:ext cx="1529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ftr" idx="11"/>
          </p:nvPr>
        </p:nvSpPr>
        <p:spPr>
          <a:xfrm>
            <a:off x="4038600" y="64782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sldNum" idx="12"/>
          </p:nvPr>
        </p:nvSpPr>
        <p:spPr>
          <a:xfrm>
            <a:off x="8610600" y="6478271"/>
            <a:ext cx="322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9" name="Google Shape;49;p35"/>
          <p:cNvGrpSpPr/>
          <p:nvPr/>
        </p:nvGrpSpPr>
        <p:grpSpPr>
          <a:xfrm rot="0">
            <a:off x="5042" y="6500230"/>
            <a:ext cx="2532164" cy="357770"/>
            <a:chOff x="3782" y="6500230"/>
            <a:chExt cx="1899123" cy="357770"/>
          </a:xfrm>
        </p:grpSpPr>
        <p:pic>
          <p:nvPicPr>
            <p:cNvPr id="50" name="Google Shape;50;p35"/>
            <p:cNvPicPr/>
            <p:nvPr/>
          </p:nvPicPr>
          <p:blipFill rotWithShape="1">
            <a:blip r:embed="rId2">
              <a:alphaModFix/>
            </a:blip>
            <a:srcRect t="23865" b="23796"/>
            <a:stretch>
              <a:fillRect/>
            </a:stretch>
          </p:blipFill>
          <p:spPr>
            <a:xfrm>
              <a:off x="3782" y="6512758"/>
              <a:ext cx="921184" cy="3452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35"/>
            <p:cNvSpPr txBox="1"/>
            <p:nvPr/>
          </p:nvSpPr>
          <p:spPr>
            <a:xfrm>
              <a:off x="756095" y="6500230"/>
              <a:ext cx="11468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School of Chem. Eng.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SungKyunKwan Univ.</a:t>
              </a: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29112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>
            <a:spLocks noGrp="1"/>
          </p:cNvSpPr>
          <p:nvPr>
            <p:ph type="title" idx="0"/>
          </p:nvPr>
        </p:nvSpPr>
        <p:spPr>
          <a:xfrm>
            <a:off x="355600" y="365126"/>
            <a:ext cx="11480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body" idx="1"/>
          </p:nvPr>
        </p:nvSpPr>
        <p:spPr>
          <a:xfrm>
            <a:off x="838200" y="1097280"/>
            <a:ext cx="5181600" cy="50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body" idx="2"/>
          </p:nvPr>
        </p:nvSpPr>
        <p:spPr>
          <a:xfrm>
            <a:off x="6172200" y="1097280"/>
            <a:ext cx="5181600" cy="50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dt" idx="10"/>
          </p:nvPr>
        </p:nvSpPr>
        <p:spPr>
          <a:xfrm>
            <a:off x="2499360" y="6478271"/>
            <a:ext cx="1529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ftr" idx="11"/>
          </p:nvPr>
        </p:nvSpPr>
        <p:spPr>
          <a:xfrm>
            <a:off x="4038600" y="64782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sldNum" idx="12"/>
          </p:nvPr>
        </p:nvSpPr>
        <p:spPr>
          <a:xfrm>
            <a:off x="8610600" y="6478271"/>
            <a:ext cx="322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9" name="Google Shape;59;p37"/>
          <p:cNvGrpSpPr/>
          <p:nvPr/>
        </p:nvGrpSpPr>
        <p:grpSpPr>
          <a:xfrm rot="0">
            <a:off x="5042" y="6500230"/>
            <a:ext cx="2532164" cy="357770"/>
            <a:chOff x="3782" y="6500230"/>
            <a:chExt cx="1899123" cy="357770"/>
          </a:xfrm>
        </p:grpSpPr>
        <p:pic>
          <p:nvPicPr>
            <p:cNvPr id="60" name="Google Shape;60;p37"/>
            <p:cNvPicPr/>
            <p:nvPr/>
          </p:nvPicPr>
          <p:blipFill rotWithShape="1">
            <a:blip r:embed="rId2">
              <a:alphaModFix/>
            </a:blip>
            <a:srcRect t="23865" b="23796"/>
            <a:stretch>
              <a:fillRect/>
            </a:stretch>
          </p:blipFill>
          <p:spPr>
            <a:xfrm>
              <a:off x="3782" y="6512758"/>
              <a:ext cx="921184" cy="3452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37"/>
            <p:cNvSpPr txBox="1"/>
            <p:nvPr/>
          </p:nvSpPr>
          <p:spPr>
            <a:xfrm>
              <a:off x="756095" y="6500230"/>
              <a:ext cx="11468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School of Chem. Eng.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SungKyunKwan Univ.</a:t>
              </a: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58795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8"/>
          <p:cNvSpPr txBox="1">
            <a:spLocks noGrp="1"/>
          </p:cNvSpPr>
          <p:nvPr>
            <p:ph type="title" idx="0"/>
          </p:nvPr>
        </p:nvSpPr>
        <p:spPr>
          <a:xfrm>
            <a:off x="839788" y="365126"/>
            <a:ext cx="105156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body" idx="1"/>
          </p:nvPr>
        </p:nvSpPr>
        <p:spPr>
          <a:xfrm>
            <a:off x="839789" y="109442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body" idx="2"/>
          </p:nvPr>
        </p:nvSpPr>
        <p:spPr>
          <a:xfrm>
            <a:off x="839789" y="1918334"/>
            <a:ext cx="5157787" cy="4284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endParaRPr/>
          </a:p>
        </p:txBody>
      </p:sp>
      <p:sp>
        <p:nvSpPr>
          <p:cNvPr id="66" name="Google Shape;66;p38"/>
          <p:cNvSpPr txBox="1">
            <a:spLocks noGrp="1"/>
          </p:cNvSpPr>
          <p:nvPr>
            <p:ph type="body" idx="3"/>
          </p:nvPr>
        </p:nvSpPr>
        <p:spPr>
          <a:xfrm>
            <a:off x="6172200" y="109442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body" idx="4"/>
          </p:nvPr>
        </p:nvSpPr>
        <p:spPr>
          <a:xfrm>
            <a:off x="6172200" y="1918334"/>
            <a:ext cx="5183188" cy="4284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endParaRPr/>
          </a:p>
        </p:txBody>
      </p:sp>
      <p:sp>
        <p:nvSpPr>
          <p:cNvPr id="68" name="Google Shape;68;p38"/>
          <p:cNvSpPr txBox="1">
            <a:spLocks noGrp="1"/>
          </p:cNvSpPr>
          <p:nvPr>
            <p:ph type="dt" idx="10"/>
          </p:nvPr>
        </p:nvSpPr>
        <p:spPr>
          <a:xfrm>
            <a:off x="2499360" y="6478271"/>
            <a:ext cx="1529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ftr" idx="11"/>
          </p:nvPr>
        </p:nvSpPr>
        <p:spPr>
          <a:xfrm>
            <a:off x="4038600" y="64782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sldNum" idx="12"/>
          </p:nvPr>
        </p:nvSpPr>
        <p:spPr>
          <a:xfrm>
            <a:off x="8610600" y="6478271"/>
            <a:ext cx="322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1" name="Google Shape;71;p38"/>
          <p:cNvGrpSpPr/>
          <p:nvPr/>
        </p:nvGrpSpPr>
        <p:grpSpPr>
          <a:xfrm rot="0">
            <a:off x="5042" y="6500230"/>
            <a:ext cx="2532164" cy="357770"/>
            <a:chOff x="3782" y="6500230"/>
            <a:chExt cx="1899123" cy="357770"/>
          </a:xfrm>
        </p:grpSpPr>
        <p:pic>
          <p:nvPicPr>
            <p:cNvPr id="72" name="Google Shape;72;p38"/>
            <p:cNvPicPr/>
            <p:nvPr/>
          </p:nvPicPr>
          <p:blipFill rotWithShape="1">
            <a:blip r:embed="rId2">
              <a:alphaModFix/>
            </a:blip>
            <a:srcRect t="23865" b="23796"/>
            <a:stretch>
              <a:fillRect/>
            </a:stretch>
          </p:blipFill>
          <p:spPr>
            <a:xfrm>
              <a:off x="3782" y="6512758"/>
              <a:ext cx="921184" cy="3452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38"/>
            <p:cNvSpPr txBox="1"/>
            <p:nvPr/>
          </p:nvSpPr>
          <p:spPr>
            <a:xfrm>
              <a:off x="756095" y="6500230"/>
              <a:ext cx="11468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School of Chem. Eng.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SungKyunKwan Univ.</a:t>
              </a: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390461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>
            <a:spLocks noGrp="1"/>
          </p:cNvSpPr>
          <p:nvPr>
            <p:ph type="dt" idx="10"/>
          </p:nvPr>
        </p:nvSpPr>
        <p:spPr>
          <a:xfrm>
            <a:off x="2499360" y="6478271"/>
            <a:ext cx="1529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ftr" idx="11"/>
          </p:nvPr>
        </p:nvSpPr>
        <p:spPr>
          <a:xfrm>
            <a:off x="4038600" y="64782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sldNum" idx="12"/>
          </p:nvPr>
        </p:nvSpPr>
        <p:spPr>
          <a:xfrm>
            <a:off x="8610600" y="6478271"/>
            <a:ext cx="322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8" name="Google Shape;78;p39"/>
          <p:cNvGrpSpPr/>
          <p:nvPr/>
        </p:nvGrpSpPr>
        <p:grpSpPr>
          <a:xfrm rot="0">
            <a:off x="5042" y="6500230"/>
            <a:ext cx="2532164" cy="357770"/>
            <a:chOff x="3782" y="6500230"/>
            <a:chExt cx="1899123" cy="357770"/>
          </a:xfrm>
        </p:grpSpPr>
        <p:pic>
          <p:nvPicPr>
            <p:cNvPr id="79" name="Google Shape;79;p39"/>
            <p:cNvPicPr/>
            <p:nvPr/>
          </p:nvPicPr>
          <p:blipFill rotWithShape="1">
            <a:blip r:embed="rId2">
              <a:alphaModFix/>
            </a:blip>
            <a:srcRect t="23865" b="23796"/>
            <a:stretch>
              <a:fillRect/>
            </a:stretch>
          </p:blipFill>
          <p:spPr>
            <a:xfrm>
              <a:off x="3782" y="6512758"/>
              <a:ext cx="921184" cy="3452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39"/>
            <p:cNvSpPr txBox="1"/>
            <p:nvPr/>
          </p:nvSpPr>
          <p:spPr>
            <a:xfrm>
              <a:off x="756095" y="6500230"/>
              <a:ext cx="11468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School of Chem. Eng.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SungKyunKwan Univ.</a:t>
              </a: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850603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4.xml"  /><Relationship Id="rId2" Type="http://schemas.openxmlformats.org/officeDocument/2006/relationships/slideLayout" Target="../slideLayouts/slideLayout15.xml"  /><Relationship Id="rId3" Type="http://schemas.openxmlformats.org/officeDocument/2006/relationships/slideLayout" Target="../slideLayouts/slideLayout16.xml"  /><Relationship Id="rId4" Type="http://schemas.openxmlformats.org/officeDocument/2006/relationships/slideLayout" Target="../slideLayouts/slideLayout17.xml"  /><Relationship Id="rId5" Type="http://schemas.openxmlformats.org/officeDocument/2006/relationships/slideLayout" Target="../slideLayouts/slideLayout18.xml"  /><Relationship Id="rId6" Type="http://schemas.openxmlformats.org/officeDocument/2006/relationships/slideLayout" Target="../slideLayouts/slideLayout19.xml"  /><Relationship Id="rId7" Type="http://schemas.openxmlformats.org/officeDocument/2006/relationships/slideLayout" Target="../slideLayouts/slideLayout20.xml"  /><Relationship Id="rId8" Type="http://schemas.openxmlformats.org/officeDocument/2006/relationships/theme" Target="../theme/theme2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path path="circle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b="0" i="0" u="none" strike="noStrike" cap="none" spc="0">
              <a:ln>
                <a:noFill/>
              </a:ln>
              <a:solidFill>
                <a:prstClr val="white"/>
              </a:solidFill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GWANGJU INSTITUTE OF SCIENCE AND TECHNOLOGY (GIST) SEMINAR, JULY 12, 2019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EAF1AF7-8E07-442A-8E11-2E63F8314A9C}" type="datetime1">
              <a:rPr lang="en-US"/>
              <a:t>4/24/26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A8D9AD5-F248-4919-864A-CFD76CC027D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marL="0" indent="0" algn="l" defTabSz="914400">
        <a:lnSpc>
          <a:spcPct val="90000"/>
        </a:lnSpc>
        <a:spcBef>
          <a:spcPts val="0"/>
        </a:spcBef>
        <a:buFont typeface="Arial"/>
        <a:buNone/>
        <a:defRPr sz="34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/>
        <a:buChar char="§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/>
        <a:buChar char="§"/>
        <a:defRPr sz="18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/>
        <a:buChar char="§"/>
        <a:defRPr sz="16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>
        <a:lnSpc>
          <a:spcPct val="90000"/>
        </a:lnSpc>
        <a:spcBef>
          <a:spcPts val="800"/>
        </a:spcBef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>
        <a:lnSpc>
          <a:spcPct val="90000"/>
        </a:lnSpc>
        <a:spcBef>
          <a:spcPts val="800"/>
        </a:spcBef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>
        <a:lnSpc>
          <a:spcPct val="90000"/>
        </a:lnSpc>
        <a:spcBef>
          <a:spcPts val="800"/>
        </a:spcBef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>
        <a:lnSpc>
          <a:spcPct val="90000"/>
        </a:lnSpc>
        <a:spcBef>
          <a:spcPts val="800"/>
        </a:spcBef>
        <a:buSzPct val="80000"/>
        <a:buFont typeface="Wingdings"/>
        <a:buChar char="§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preserve="1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2"/>
          <p:cNvGrpSpPr/>
          <p:nvPr/>
        </p:nvGrpSpPr>
        <p:grpSpPr>
          <a:xfrm rot="0">
            <a:off x="0" y="6384925"/>
            <a:ext cx="12192000" cy="508000"/>
            <a:chOff x="-2" y="6384620"/>
            <a:chExt cx="9144002" cy="509031"/>
          </a:xfrm>
        </p:grpSpPr>
        <p:sp>
          <p:nvSpPr>
            <p:cNvPr id="11" name="Google Shape;11;p32"/>
            <p:cNvSpPr txBox="1"/>
            <p:nvPr/>
          </p:nvSpPr>
          <p:spPr>
            <a:xfrm>
              <a:off x="-2" y="6449840"/>
              <a:ext cx="9144002" cy="443811"/>
            </a:xfrm>
            <a:prstGeom prst="rect">
              <a:avLst/>
            </a:prstGeom>
            <a:solidFill>
              <a:srgbClr val="11484b"/>
            </a:solidFill>
            <a:ln>
              <a:noFill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Calibri"/>
                <a:buNone/>
                <a:defRPr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12;p32"/>
            <p:cNvSpPr txBox="1"/>
            <p:nvPr/>
          </p:nvSpPr>
          <p:spPr>
            <a:xfrm>
              <a:off x="-2" y="6384620"/>
              <a:ext cx="9144002" cy="65220"/>
            </a:xfrm>
            <a:prstGeom prst="rect">
              <a:avLst/>
            </a:prstGeom>
            <a:solidFill>
              <a:srgbClr val="21a76a"/>
            </a:solidFill>
            <a:ln>
              <a:noFill/>
            </a:ln>
          </p:spPr>
          <p:txBody>
            <a:bodyPr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Calibri"/>
                <a:buNone/>
                <a:defRPr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" name="Google Shape;13;p32"/>
          <p:cNvSpPr txBox="1">
            <a:spLocks noGrp="1"/>
          </p:cNvSpPr>
          <p:nvPr>
            <p:ph type="title" idx="0"/>
          </p:nvPr>
        </p:nvSpPr>
        <p:spPr>
          <a:xfrm>
            <a:off x="355600" y="365126"/>
            <a:ext cx="11480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body" idx="1"/>
          </p:nvPr>
        </p:nvSpPr>
        <p:spPr>
          <a:xfrm>
            <a:off x="355600" y="1097280"/>
            <a:ext cx="11480800" cy="50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endParaRPr/>
          </a:p>
        </p:txBody>
      </p:sp>
      <p:sp>
        <p:nvSpPr>
          <p:cNvPr id="15" name="Google Shape;15;p32"/>
          <p:cNvSpPr txBox="1">
            <a:spLocks noGrp="1"/>
          </p:cNvSpPr>
          <p:nvPr>
            <p:ph type="dt" idx="10"/>
          </p:nvPr>
        </p:nvSpPr>
        <p:spPr>
          <a:xfrm>
            <a:off x="2499360" y="6478271"/>
            <a:ext cx="1529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endParaRPr/>
          </a:p>
        </p:txBody>
      </p:sp>
      <p:sp>
        <p:nvSpPr>
          <p:cNvPr id="16" name="Google Shape;16;p32"/>
          <p:cNvSpPr txBox="1">
            <a:spLocks noGrp="1"/>
          </p:cNvSpPr>
          <p:nvPr>
            <p:ph type="ftr" idx="11"/>
          </p:nvPr>
        </p:nvSpPr>
        <p:spPr>
          <a:xfrm>
            <a:off x="4038600" y="647827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sldNum" idx="12"/>
          </p:nvPr>
        </p:nvSpPr>
        <p:spPr>
          <a:xfrm>
            <a:off x="8610600" y="6478271"/>
            <a:ext cx="322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52772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transition xmlns:mc="http://schemas.openxmlformats.org/markup-compatibility/2006" xmlns:hp="http://schemas.haansoft.com/office/presentation/8.0" mc:Ignorable="hp" hp:hslDur="500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4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5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3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7.xml"  /><Relationship Id="rId3" Type="http://schemas.openxmlformats.org/officeDocument/2006/relationships/video" Target="file:///E:\SKKU\SKKU_26-1&#54617;&#44592;\&#45236;&#48512;&#51064;&#53556;&#49901;_PDSE\Progress%20Report\&#44592;&#53440;&#51088;&#47308;\0518_G2C_Basal.mp4" TargetMode="External" /><Relationship Id="rId4" Type="http://schemas.microsoft.com/office/2007/relationships/media" Target="file:///E:\SKKU\SKKU_26-1&#54617;&#44592;\&#45236;&#48512;&#51064;&#53556;&#49901;_PDSE\Progress%20Report\&#44592;&#53440;&#51088;&#47308;\0518_G2C_Basal.mp4" TargetMode="External" /><Relationship Id="rId5" Type="http://schemas.openxmlformats.org/officeDocument/2006/relationships/image" Target="../media/image9.png"  /><Relationship Id="rId6" Type="http://schemas.openxmlformats.org/officeDocument/2006/relationships/video" Target="file:///E:\SKKU\SKKU_26-1&#54617;&#44592;\&#45236;&#48512;&#51064;&#53556;&#49901;_PDSE\Progress%20Report\&#44592;&#53440;&#51088;&#47308;\0518_PDSE_Basal.mp4" TargetMode="External" /><Relationship Id="rId7" Type="http://schemas.microsoft.com/office/2007/relationships/media" Target="file:///E:\SKKU\SKKU_26-1&#54617;&#44592;\&#45236;&#48512;&#51064;&#53556;&#49901;_PDSE\Progress%20Report\&#44592;&#53440;&#51088;&#47308;\0518_PDSE_Basal.mp4" TargetMode="External" /><Relationship Id="rId8" Type="http://schemas.openxmlformats.org/officeDocument/2006/relationships/image" Target="../media/image10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altLang="ko-KR"/>
              <a:t>Visualization of Brain Architecture of Codon</a:t>
            </a:r>
            <a:r>
              <a:rPr lang="ko-KR" altLang="en-US"/>
              <a:t> </a:t>
            </a:r>
            <a:r>
              <a:rPr lang="en-US" altLang="ko-KR"/>
              <a:t>Optimization</a:t>
            </a:r>
            <a:endParaRPr lang="en-US" altLang="ko-KR"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2667000" y="3602037"/>
            <a:ext cx="6858000" cy="228822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r>
              <a:rPr lang="en-US" altLang="ko-KR"/>
              <a:t>May</a:t>
            </a:r>
            <a:r>
              <a:rPr lang="en-US"/>
              <a:t> 1</a:t>
            </a:r>
            <a:r>
              <a:rPr lang="en-US" altLang="ko-KR"/>
              <a:t>8</a:t>
            </a:r>
            <a:r>
              <a:rPr lang="en-US"/>
              <a:t>, 202</a:t>
            </a:r>
            <a:r>
              <a:rPr lang="en-US" altLang="ko-KR"/>
              <a:t>6</a:t>
            </a:r>
            <a:endParaRPr lang="en-US" altLang="ko-KR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r>
              <a:rPr lang="en-US" altLang="ko-KR"/>
              <a:t>Jaewon</a:t>
            </a:r>
            <a:r>
              <a:rPr lang="en-US"/>
              <a:t> </a:t>
            </a:r>
            <a:r>
              <a:rPr lang="en-US" altLang="ko-KR"/>
              <a:t>Kim</a:t>
            </a:r>
            <a:endParaRPr lang="en-US" altLang="ko-KR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endParaRPr b="1" u="sng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r>
              <a:rPr lang="en-US"/>
              <a:t>Process Design &amp; Systems Engineering Lab</a:t>
            </a:r>
            <a:endParaRPr lang="en-US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r>
              <a:rPr lang="en-US"/>
              <a:t>School of Chemical Engineering</a:t>
            </a:r>
            <a:endParaRPr lang="en-US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r>
              <a:rPr lang="en-US"/>
              <a:t>SungKyunKwan University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774825" y="208597"/>
            <a:ext cx="1350962" cy="2619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 seminar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5772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 idx="0"/>
          </p:nvPr>
        </p:nvSpPr>
        <p:spPr>
          <a:xfrm>
            <a:off x="1790700" y="365126"/>
            <a:ext cx="8610600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defRPr/>
            </a:pPr>
            <a:r>
              <a:rPr lang="en-US"/>
              <a:t>Contents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</a:t>
            </a:fld>
            <a:endParaRPr lang="en-US"/>
          </a:p>
        </p:txBody>
      </p:sp>
      <p:sp>
        <p:nvSpPr>
          <p:cNvPr id="95" name="Google Shape;95;p2"/>
          <p:cNvSpPr txBox="1"/>
          <p:nvPr/>
        </p:nvSpPr>
        <p:spPr>
          <a:xfrm>
            <a:off x="2429827" y="4293096"/>
            <a:ext cx="3109912" cy="46162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Ongoing Works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2"/>
          <p:cNvCxnSpPr/>
          <p:nvPr/>
        </p:nvCxnSpPr>
        <p:spPr>
          <a:xfrm>
            <a:off x="2495345" y="4806174"/>
            <a:ext cx="246926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w="sm" len="sm"/>
            <a:tailEnd w="sm" len="sm"/>
          </a:ln>
        </p:spPr>
      </p:cxnSp>
      <p:sp>
        <p:nvSpPr>
          <p:cNvPr id="97" name="Google Shape;97;p2"/>
          <p:cNvSpPr txBox="1"/>
          <p:nvPr/>
        </p:nvSpPr>
        <p:spPr>
          <a:xfrm>
            <a:off x="2429827" y="1085301"/>
            <a:ext cx="3109912" cy="446299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altLang="ko-KR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 Background</a:t>
            </a:r>
            <a:endParaRPr lang="en-US" altLang="ko-KR"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2495345" y="1598612"/>
            <a:ext cx="246926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w="sm" len="sm"/>
            <a:tailEnd w="sm" len="sm"/>
          </a:ln>
        </p:spPr>
      </p:cxnSp>
      <p:sp>
        <p:nvSpPr>
          <p:cNvPr id="99" name="Google Shape;99;p2"/>
          <p:cNvSpPr txBox="1"/>
          <p:nvPr/>
        </p:nvSpPr>
        <p:spPr>
          <a:xfrm>
            <a:off x="5159896" y="1429583"/>
            <a:ext cx="7086600" cy="35919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257040" marR="0" lvl="0" indent="-257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Char char="•"/>
              <a:defRPr/>
            </a:pPr>
            <a:r>
              <a:rPr lang="ko-KR" alt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Brain</a:t>
            </a:r>
            <a:r>
              <a:rPr lang="en-US" altLang="ko-K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ko-KR" alt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and Cell-Type-Specific Codon Optimization Matters</a:t>
            </a:r>
            <a:endParaRPr lang="ko-KR" altLang="en-US"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105400" y="4465882"/>
            <a:ext cx="5527104" cy="1352671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ans Symbols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ans Symbols"/>
              <a:buChar char="▪"/>
              <a:defRPr/>
            </a:pPr>
            <a:r>
              <a:rPr lang="en-US" altLang="ko-K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 Data Implementation Progress</a:t>
            </a:r>
            <a:endParaRPr lang="en-US" altLang="ko-KR"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ans Symbols"/>
              <a:buChar char="▪"/>
              <a:defRPr/>
            </a:pPr>
            <a:endParaRPr lang="en-US" altLang="ko-KR"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ans Symbols"/>
              <a:buChar char="▪"/>
              <a:defRPr/>
            </a:pPr>
            <a:r>
              <a:rPr lang="en-US" altLang="ko-K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Plans</a:t>
            </a:r>
            <a:endParaRPr lang="en-US" altLang="ko-KR"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97;p2"/>
          <p:cNvSpPr txBox="1"/>
          <p:nvPr/>
        </p:nvSpPr>
        <p:spPr>
          <a:xfrm>
            <a:off x="2429827" y="2689198"/>
            <a:ext cx="3109912" cy="45212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altLang="ko-KR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lang="en-US" altLang="ko-KR"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98;p2"/>
          <p:cNvCxnSpPr/>
          <p:nvPr/>
        </p:nvCxnSpPr>
        <p:spPr>
          <a:xfrm>
            <a:off x="2495345" y="3202509"/>
            <a:ext cx="246926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w="sm" len="sm"/>
            <a:tailEnd w="sm" len="sm"/>
          </a:ln>
        </p:spPr>
      </p:cxnSp>
      <p:sp>
        <p:nvSpPr>
          <p:cNvPr id="106" name="Google Shape;99;p2"/>
          <p:cNvSpPr txBox="1"/>
          <p:nvPr/>
        </p:nvSpPr>
        <p:spPr>
          <a:xfrm>
            <a:off x="5105400" y="3033480"/>
            <a:ext cx="6247184" cy="90794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ans Symbols"/>
              <a:buChar char="▪"/>
              <a:defRPr/>
            </a:pPr>
            <a:r>
              <a:rPr lang="en-US" altLang="ko-KR" i="0" u="none" strike="noStrike" cap="none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Codon Optimization Applications</a:t>
            </a:r>
            <a:endParaRPr lang="ko-KR" altLang="en-US" sz="18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ans Symbols"/>
              <a:buNone/>
              <a:defRPr/>
            </a:pPr>
            <a:endParaRPr sz="18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ans Symbols"/>
              <a:buChar char="▪"/>
              <a:defRPr/>
            </a:pPr>
            <a:r>
              <a:rPr lang="en-US" altLang="ko-KR" sz="18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Whole Brain Architecture</a:t>
            </a:r>
            <a:endParaRPr lang="en-US" altLang="ko-KR" sz="18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8697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0"/>
          <p:cNvSpPr txBox="1">
            <a:spLocks noGrp="1"/>
          </p:cNvSpPr>
          <p:nvPr>
            <p:ph type="title" idx="0"/>
          </p:nvPr>
        </p:nvSpPr>
        <p:spPr>
          <a:xfrm>
            <a:off x="1243049" y="1714962"/>
            <a:ext cx="9705900" cy="185805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257040" marR="0" lvl="0" indent="-25704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Char char="•"/>
              <a:defRPr/>
            </a:pPr>
            <a:r>
              <a:rPr lang="ko-KR" altLang="en-US" sz="3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Brain</a:t>
            </a:r>
            <a:r>
              <a:rPr lang="en-US" altLang="ko-KR" sz="3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ko-KR" altLang="en-US" sz="3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 and Cell-Type-Specific Codon Optimization Matters</a:t>
            </a:r>
            <a:endParaRPr sz="3300" b="1"/>
          </a:p>
        </p:txBody>
      </p:sp>
      <p:sp>
        <p:nvSpPr>
          <p:cNvPr id="106" name="Google Shape;106;p40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90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1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8</a:t>
            </a:fld>
            <a:endParaRPr lang="en-US"/>
          </a:p>
        </p:txBody>
      </p:sp>
      <p:sp>
        <p:nvSpPr>
          <p:cNvPr id="113" name="Google Shape;113;p41"/>
          <p:cNvSpPr txBox="1"/>
          <p:nvPr/>
        </p:nvSpPr>
        <p:spPr>
          <a:xfrm>
            <a:off x="191344" y="1340768"/>
            <a:ext cx="7416824" cy="302433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r>
              <a:rPr lang="en-US" sz="14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7개 뇌 세포 유형 tRNA 프로파일링 </a:t>
            </a: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r>
              <a:rPr lang="en-US" sz="14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→ PCA에서 뉴런/교세포 클러스터 명확 분리 (Figure 2A)</a:t>
            </a: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None/>
              <a:defRPr/>
            </a:pP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r>
              <a:rPr lang="en-US" sz="14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뉴런 내 두 그룹: 그룹1(Purkinje, 피질) = 다양한 tRNA 풀 </a:t>
            </a: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r>
              <a:rPr lang="en-US" sz="14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→ 내성 / 그룹2(과립, 억제성) = 편향된 풀 → 취약</a:t>
            </a: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None/>
              <a:defRPr/>
            </a:pP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r>
              <a:rPr lang="en-US" sz="14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뇌 특이적 tRNA-Arg(UCU) (n-Tr20) 소실 시 AGA 코돈에서 리보솜 정지 </a:t>
            </a: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r>
              <a:rPr lang="en-US" sz="14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→ 소뇌 과립세포 퇴행 (Purkinje는 생존)</a:t>
            </a: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None/>
              <a:defRPr/>
            </a:pP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r>
              <a:rPr lang="en-US" sz="14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같은 tRNA 유전자도 소뇌 vs 피질/해마에서 성숙 수준이 다름 </a:t>
            </a: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r>
              <a:rPr lang="en-US" sz="14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→ 영역별로 기능적 tRNA 양이 다르다</a:t>
            </a: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ct val="25000"/>
              <a:buFont typeface="Arial"/>
              <a:buChar char="▪"/>
              <a:defRPr/>
            </a:pPr>
            <a:endParaRPr lang="en-US" sz="1400" b="1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1"/>
          <p:cNvSpPr txBox="1"/>
          <p:nvPr/>
        </p:nvSpPr>
        <p:spPr>
          <a:xfrm>
            <a:off x="1524000" y="6170445"/>
            <a:ext cx="9144000" cy="21890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Kapur et al. (2024) — "Cell-type-specific expression of tRNAs in the brain regulates cellular homeostasis" — Neuron, 112(9), 1397-1415.</a:t>
            </a:r>
            <a:endParaRPr lang="en-US" sz="9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1"/>
          <p:cNvSpPr txBox="1"/>
          <p:nvPr/>
        </p:nvSpPr>
        <p:spPr>
          <a:xfrm>
            <a:off x="1761067" y="168408"/>
            <a:ext cx="8610600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>
              <a:buNone/>
              <a:defRPr/>
            </a:pPr>
            <a:r>
              <a:rPr lang="en-US" sz="3600" b="1">
                <a:solidFill>
                  <a:schemeClr val="tx1"/>
                </a:solidFill>
                <a:latin typeface="Calibri"/>
                <a:cs typeface="Calibri"/>
              </a:rPr>
              <a:t>뇌 세포별 tRNA 지도</a:t>
            </a:r>
            <a:endParaRPr sz="3600" b="1" i="0" u="none" strike="noStrike" cap="none">
              <a:solidFill>
                <a:schemeClr val="tx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18" name="Google Shape;118;p41"/>
          <p:cNvSpPr txBox="1">
            <a:spLocks noGrp="1"/>
          </p:cNvSpPr>
          <p:nvPr>
            <p:ph type="ftr" idx="11"/>
          </p:nvPr>
        </p:nvSpPr>
        <p:spPr>
          <a:xfrm>
            <a:off x="4552950" y="647827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Confidential</a:t>
            </a:r>
            <a:endParaRPr/>
          </a:p>
        </p:txBody>
      </p:sp>
      <p:pic>
        <p:nvPicPr>
          <p:cNvPr id="121" name="그림 1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61348" y="116632"/>
            <a:ext cx="5067299" cy="5648794"/>
          </a:xfrm>
          <a:prstGeom prst="rect">
            <a:avLst/>
          </a:prstGeom>
        </p:spPr>
      </p:pic>
      <p:sp>
        <p:nvSpPr>
          <p:cNvPr id="122" name="Shape 15"/>
          <p:cNvSpPr/>
          <p:nvPr/>
        </p:nvSpPr>
        <p:spPr>
          <a:xfrm>
            <a:off x="304808" y="4601981"/>
            <a:ext cx="6984776" cy="936104"/>
          </a:xfrm>
          <a:prstGeom prst="rect">
            <a:avLst/>
          </a:prstGeom>
          <a:solidFill>
            <a:srgbClr val="fffbeb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3" name="Text 16"/>
          <p:cNvSpPr/>
          <p:nvPr/>
        </p:nvSpPr>
        <p:spPr>
          <a:xfrm>
            <a:off x="479376" y="4601981"/>
            <a:ext cx="6667286" cy="9361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ea580c"/>
                </a:solidFill>
                <a:latin typeface="Calibri"/>
                <a:ea typeface="Calibri"/>
                <a:cs typeface="Calibri"/>
              </a:rPr>
              <a:t>핵심: 뇌 영역을 선택하는 것은 곧 tRNA 풀을 선택하는 것이며, </a:t>
            </a:r>
            <a:endParaRPr lang="en-US" sz="1500" b="1">
              <a:solidFill>
                <a:srgbClr val="ea580c"/>
              </a:solidFill>
              <a:latin typeface="Calibri"/>
              <a:ea typeface="Calibri"/>
              <a:cs typeface="Calibri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ea580c"/>
                </a:solidFill>
                <a:latin typeface="Calibri"/>
                <a:ea typeface="Calibri"/>
                <a:cs typeface="Calibri"/>
              </a:rPr>
              <a:t>이는 코돈 최적화 전략을 결정한다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105638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1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9</a:t>
            </a:fld>
            <a:endParaRPr lang="en-US"/>
          </a:p>
        </p:txBody>
      </p:sp>
      <p:sp>
        <p:nvSpPr>
          <p:cNvPr id="116" name="Google Shape;116;p41"/>
          <p:cNvSpPr txBox="1"/>
          <p:nvPr/>
        </p:nvSpPr>
        <p:spPr>
          <a:xfrm>
            <a:off x="1524000" y="6170445"/>
            <a:ext cx="9144000" cy="3617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Kim et al. (2025) — "Comparative Analysis of Codon Optimization Tools: Advancing toward a Multi-Criteria Framework for Synthetic Gene Design" — Journal of Microbiology and Biotechnology.</a:t>
            </a:r>
            <a:endParaRPr lang="en-US" sz="9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Hernandez-Alias et al. (2023) — "Using protein-per-mRNA differences among human tissues in codon optimization" — Genome Biology, 24, 34.</a:t>
            </a:r>
            <a:endParaRPr lang="en-US" sz="9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1"/>
          <p:cNvSpPr txBox="1"/>
          <p:nvPr/>
        </p:nvSpPr>
        <p:spPr>
          <a:xfrm>
            <a:off x="1761067" y="168408"/>
            <a:ext cx="8610600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>
              <a:lnSpc>
                <a:spcPct val="110000"/>
              </a:lnSpc>
              <a:buNone/>
              <a:defRPr/>
            </a:pPr>
            <a:r>
              <a:rPr lang="en-US" sz="3600" b="1">
                <a:solidFill>
                  <a:srgbClr val="1e293b"/>
                </a:solidFill>
                <a:latin typeface="Calibri"/>
                <a:cs typeface="Calibri"/>
              </a:rPr>
              <a:t>기존 도구의 한계</a:t>
            </a:r>
            <a:endParaRPr sz="3600" b="1" i="0" u="none" strike="noStrike" cap="none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18" name="Google Shape;118;p41"/>
          <p:cNvSpPr txBox="1">
            <a:spLocks noGrp="1"/>
          </p:cNvSpPr>
          <p:nvPr>
            <p:ph type="ftr" idx="11"/>
          </p:nvPr>
        </p:nvSpPr>
        <p:spPr>
          <a:xfrm>
            <a:off x="4552950" y="647827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Confidential</a:t>
            </a:r>
            <a:endParaRPr/>
          </a:p>
        </p:txBody>
      </p:sp>
      <p:pic>
        <p:nvPicPr>
          <p:cNvPr id="121" name="그림 1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50601" y="3927959"/>
            <a:ext cx="2118201" cy="2005671"/>
          </a:xfrm>
          <a:prstGeom prst="rect">
            <a:avLst/>
          </a:prstGeom>
        </p:spPr>
      </p:pic>
      <p:pic>
        <p:nvPicPr>
          <p:cNvPr id="122" name="그림 12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11429" y="4273701"/>
            <a:ext cx="769141" cy="734377"/>
          </a:xfrm>
          <a:prstGeom prst="rect">
            <a:avLst/>
          </a:prstGeom>
        </p:spPr>
      </p:pic>
      <p:pic>
        <p:nvPicPr>
          <p:cNvPr id="123" name="그림 12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669390" y="809894"/>
            <a:ext cx="3328913" cy="5310867"/>
          </a:xfrm>
          <a:prstGeom prst="rect">
            <a:avLst/>
          </a:prstGeom>
        </p:spPr>
      </p:pic>
      <p:sp>
        <p:nvSpPr>
          <p:cNvPr id="124" name="Text 2"/>
          <p:cNvSpPr/>
          <p:nvPr/>
        </p:nvSpPr>
        <p:spPr>
          <a:xfrm>
            <a:off x="983432" y="836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0b1d26"/>
                </a:solidFill>
                <a:latin typeface="Trebuchet MS"/>
                <a:ea typeface="Trebuchet MS"/>
                <a:cs typeface="Trebuchet MS"/>
              </a:rPr>
              <a:t>현존 도구는 조직/세포 유형별 최적화를 지원하지 않는다</a:t>
            </a:r>
            <a:endParaRPr lang="en-US" sz="1400"/>
          </a:p>
        </p:txBody>
      </p:sp>
      <p:graphicFrame>
        <p:nvGraphicFramePr>
          <p:cNvPr id="125" name="Table 0"/>
          <p:cNvGraphicFramePr>
            <a:graphicFrameLocks noGrp="1"/>
          </p:cNvGraphicFramePr>
          <p:nvPr/>
        </p:nvGraphicFramePr>
        <p:xfrm>
          <a:off x="945664" y="1253048"/>
          <a:ext cx="7132320" cy="2350008"/>
        </p:xfrm>
        <a:graphic>
          <a:graphicData uri="http://schemas.openxmlformats.org/drawingml/2006/table">
            <a:tbl>
              <a:tblGrid>
                <a:gridCol w="2011680"/>
                <a:gridCol w="1097280"/>
                <a:gridCol w="1097280"/>
                <a:gridCol w="1005840"/>
                <a:gridCol w="1005840"/>
                <a:gridCol w="914400"/>
              </a:tblGrid>
              <a:tr h="2743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도구</a:t>
                      </a:r>
                      <a:endParaRPr lang="en-US" sz="10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조직 특이적</a:t>
                      </a:r>
                      <a:endParaRPr lang="en-US" sz="10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세포 유형별</a:t>
                      </a:r>
                      <a:endParaRPr lang="en-US" sz="10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CpG 제약</a:t>
                      </a:r>
                      <a:endParaRPr lang="en-US" sz="10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접힘 보존</a:t>
                      </a:r>
                      <a:endParaRPr lang="en-US" sz="10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DL 기반</a:t>
                      </a:r>
                      <a:endParaRPr lang="en-US" sz="1000">
                        <a:latin typeface="Trebuchet MS"/>
                        <a:ea typeface="Trebuchet MS"/>
                        <a:cs typeface="Trebuchet MS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</a:tr>
              <a:tr h="292608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GenScript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292608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NovoPro ExpOptimizer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△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292608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OPTIMIZER / JCat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292608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CUSTOM (2023)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292608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Ravi DL (2025)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△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△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292608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CodonTransformer (2025)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2004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Our Pipeline (제안)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sp>
        <p:nvSpPr>
          <p:cNvPr id="126" name="Text 3"/>
          <p:cNvSpPr/>
          <p:nvPr/>
        </p:nvSpPr>
        <p:spPr>
          <a:xfrm>
            <a:off x="929600" y="36993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Kim et al. (2025, 한국) J. Microbiol. Biotechnol.: 10개 도구 벤치마크 결과, 모든 상용 도구가 종 수준 최적화에 머물러 있음을 확인</a:t>
            </a:r>
            <a:endParaRPr lang="en-US" sz="1000"/>
          </a:p>
        </p:txBody>
      </p:sp>
      <p:sp>
        <p:nvSpPr>
          <p:cNvPr id="127" name="Shape 4"/>
          <p:cNvSpPr/>
          <p:nvPr/>
        </p:nvSpPr>
        <p:spPr>
          <a:xfrm>
            <a:off x="47328" y="4115688"/>
            <a:ext cx="5598183" cy="1360689"/>
          </a:xfrm>
          <a:prstGeom prst="rect">
            <a:avLst/>
          </a:prstGeom>
          <a:solidFill>
            <a:srgbClr val="f0fdf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8" name="Text 5"/>
          <p:cNvSpPr/>
          <p:nvPr/>
        </p:nvSpPr>
        <p:spPr>
          <a:xfrm>
            <a:off x="191344" y="4196567"/>
            <a:ext cx="5400600" cy="168070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lnSpc>
                <a:spcPct val="110000"/>
              </a:lnSpc>
              <a:buNone/>
              <a:defRPr/>
            </a:pPr>
            <a:r>
              <a:rPr lang="en-US" sz="15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우리의 목표: </a:t>
            </a:r>
            <a:endParaRPr lang="en-US" sz="1500" b="1">
              <a:solidFill>
                <a:srgbClr val="0d9488"/>
              </a:solidFill>
              <a:latin typeface="Calibri"/>
              <a:ea typeface="Calibri"/>
              <a:cs typeface="Calibri"/>
            </a:endParaRPr>
          </a:p>
          <a:p>
            <a:pPr marL="0" lvl="0" indent="0" algn="ctr">
              <a:lnSpc>
                <a:spcPct val="110000"/>
              </a:lnSpc>
              <a:buNone/>
              <a:defRPr/>
            </a:pPr>
            <a:r>
              <a:rPr lang="en-US" sz="15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3D 뇌 영역 선택 </a:t>
            </a:r>
            <a:endParaRPr lang="en-US" sz="1500" b="1">
              <a:solidFill>
                <a:srgbClr val="0d9488"/>
              </a:solidFill>
              <a:latin typeface="Calibri"/>
              <a:ea typeface="Calibri"/>
              <a:cs typeface="Calibri"/>
            </a:endParaRPr>
          </a:p>
          <a:p>
            <a:pPr marL="0" lvl="0" indent="0" algn="ctr">
              <a:lnSpc>
                <a:spcPct val="110000"/>
              </a:lnSpc>
              <a:buNone/>
              <a:defRPr/>
            </a:pPr>
            <a:r>
              <a:rPr lang="en-US" sz="15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→ 세포 유형별 tRNA 풀 기반</a:t>
            </a:r>
            <a:endParaRPr lang="en-US" sz="1500" b="1">
              <a:solidFill>
                <a:srgbClr val="0d9488"/>
              </a:solidFill>
              <a:latin typeface="Calibri"/>
              <a:ea typeface="Calibri"/>
              <a:cs typeface="Calibri"/>
            </a:endParaRPr>
          </a:p>
          <a:p>
            <a:pPr marL="0" lvl="0" indent="0" algn="ctr">
              <a:lnSpc>
                <a:spcPct val="110000"/>
              </a:lnSpc>
              <a:buNone/>
              <a:defRPr/>
            </a:pPr>
            <a:r>
              <a:rPr lang="en-US" sz="15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 → 다목적 코돈 최적화를 하나의 파이프라인으로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79250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0"/>
          <p:cNvSpPr txBox="1">
            <a:spLocks noGrp="1"/>
          </p:cNvSpPr>
          <p:nvPr>
            <p:ph type="title" idx="0"/>
          </p:nvPr>
        </p:nvSpPr>
        <p:spPr>
          <a:xfrm>
            <a:off x="1790700" y="1709739"/>
            <a:ext cx="8601076" cy="18580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/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ans Symbols"/>
              <a:buChar char="▪"/>
              <a:defRPr/>
            </a:pPr>
            <a:r>
              <a:rPr lang="en-US" altLang="ko-KR" sz="3300" b="1" i="0" u="none" strike="noStrike" cap="none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Codon Optimization Applications</a:t>
            </a:r>
            <a:endParaRPr lang="en-US" altLang="ko-KR" sz="3300" b="1" i="0" u="none" strike="noStrike" cap="none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06" name="Google Shape;106;p40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19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1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Calibri"/>
                <a:cs typeface="Calibri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7</a:t>
            </a:fld>
            <a:endParaRPr lang="en-US" b="1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116" name="Google Shape;116;p41"/>
          <p:cNvSpPr txBox="1"/>
          <p:nvPr/>
        </p:nvSpPr>
        <p:spPr>
          <a:xfrm>
            <a:off x="1524000" y="6170445"/>
            <a:ext cx="9144000" cy="21890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Parvathy et al., 2021. Codon usage bias. </a:t>
            </a:r>
            <a:r>
              <a:rPr lang="en-US" sz="900" b="1" i="1" u="none" strike="noStrike" cap="none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Molecular Biology Reports</a:t>
            </a:r>
            <a:r>
              <a:rPr lang="en-US" sz="900" b="1" i="0" u="none" strike="noStrike" cap="none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, 1-27.</a:t>
            </a:r>
            <a:endParaRPr sz="900" b="1" i="0" u="none" strike="noStrike" cap="none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17" name="Google Shape;117;p41"/>
          <p:cNvSpPr txBox="1"/>
          <p:nvPr/>
        </p:nvSpPr>
        <p:spPr>
          <a:xfrm>
            <a:off x="263351" y="168408"/>
            <a:ext cx="11665296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altLang="ko-KR" sz="3600" b="1" i="0" u="none" strike="noStrike" cap="none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Applications of Brain Region-Specific Codon Optimization</a:t>
            </a:r>
            <a:endParaRPr lang="en-US" altLang="ko-KR" sz="3600" b="1" i="0" u="none" strike="noStrike" cap="none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18" name="Google Shape;118;p41"/>
          <p:cNvSpPr txBox="1">
            <a:spLocks noGrp="1"/>
          </p:cNvSpPr>
          <p:nvPr>
            <p:ph type="ftr" idx="11"/>
          </p:nvPr>
        </p:nvSpPr>
        <p:spPr>
          <a:xfrm>
            <a:off x="4552950" y="647827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 b="1">
                <a:solidFill>
                  <a:schemeClr val="dk1"/>
                </a:solidFill>
                <a:latin typeface="Calibri"/>
                <a:cs typeface="Calibri"/>
              </a:rPr>
              <a:t>Confidential</a:t>
            </a:r>
            <a:endParaRPr b="1">
              <a:solidFill>
                <a:schemeClr val="dk1"/>
              </a:solidFill>
              <a:latin typeface="Calibri"/>
              <a:cs typeface="Calibri"/>
            </a:endParaRPr>
          </a:p>
        </p:txBody>
      </p:sp>
      <p:graphicFrame>
        <p:nvGraphicFramePr>
          <p:cNvPr id="119" name="Table 0"/>
          <p:cNvGraphicFramePr>
            <a:graphicFrameLocks noGrp="1"/>
          </p:cNvGraphicFramePr>
          <p:nvPr/>
        </p:nvGraphicFramePr>
        <p:xfrm>
          <a:off x="226406" y="887286"/>
          <a:ext cx="11702242" cy="3909865"/>
        </p:xfrm>
        <a:graphic>
          <a:graphicData uri="http://schemas.openxmlformats.org/drawingml/2006/table">
            <a:tbl>
              <a:tblPr firstRow="1" bandRow="1"/>
              <a:tblGrid>
                <a:gridCol w="1693130"/>
                <a:gridCol w="2304256"/>
                <a:gridCol w="4176464"/>
                <a:gridCol w="3528391"/>
              </a:tblGrid>
              <a:tr h="416838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ko-KR" altLang="en-US" sz="1400" b="1">
                          <a:solidFill>
                            <a:schemeClr val="lt1"/>
                          </a:solidFill>
                          <a:latin typeface="Calibri"/>
                          <a:cs typeface="Calibri"/>
                        </a:rPr>
                        <a:t>플랫폼</a:t>
                      </a:r>
                      <a:endParaRPr lang="ko-KR" altLang="en-US" sz="1400" b="1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altLang="ko-KR" sz="1400" b="1">
                          <a:solidFill>
                            <a:schemeClr val="lt1"/>
                          </a:solidFill>
                          <a:latin typeface="Calibri"/>
                          <a:cs typeface="Calibri"/>
                        </a:rPr>
                        <a:t>Brain part</a:t>
                      </a:r>
                      <a:endParaRPr lang="en-US" altLang="ko-KR" sz="1400" b="1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altLang="ko-KR" sz="1400" b="1">
                          <a:solidFill>
                            <a:schemeClr val="lt1"/>
                          </a:solidFill>
                          <a:latin typeface="Calibri"/>
                          <a:cs typeface="Calibri"/>
                        </a:rPr>
                        <a:t>Codon optimization objective</a:t>
                      </a:r>
                      <a:endParaRPr lang="en-US" altLang="ko-KR" sz="1400" b="1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altLang="ko-KR" sz="1400" b="1">
                          <a:solidFill>
                            <a:schemeClr val="lt1"/>
                          </a:solidFill>
                          <a:latin typeface="Calibri"/>
                          <a:cs typeface="Calibri"/>
                        </a:rPr>
                        <a:t>Usage</a:t>
                      </a:r>
                      <a:endParaRPr lang="en-US" altLang="ko-KR" sz="1400" b="1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</a:tr>
              <a:tr h="707423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AAV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소뇌 / Putamen / 척수 운동뉴런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Long-term, low-immunogenic, region-specific transgene expression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SMA, AADC deficiency, 망막질환, 혈우병, 일부 근육질환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mRNA-LNP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대뇌피질 / 해마 / 소뇌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High translation efficiency + mRNA stability + low innate immune sensing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mRNA 백신, 항암 단백질, 효소 보충, Cas editor 일시 발현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Lentiviral vector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Striatum / Putamen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Stable moderate expression without silencing or overexpression toxicity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장기 발현, ex vivo 세포치료, 일부 CNS 유전자 치료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HSV / Oncolytic virus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Glioma tumor region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High payload expression in tumor cells; possible viral attenuation by recoding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뇌종양, 특히 glioma/glioblastoma 치료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HCAd / Adenoviral vector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뇌종양 부위 / 국소 뇌실질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Large-cargo and multi-gene expression balance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암 치료, 백신, 큰 유전자 payload 전달, 국소 유전자 치료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CRISPR editor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Striatum / 척수 / Cortex / Hippocampus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Compact, sufficient, transient editor expression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cs typeface="Calibri"/>
                        </a:rPr>
                        <a:t>유전자 교정, 독성 유전자 억제, 희귀 유전질환 정밀치료</a:t>
                      </a:r>
                      <a:endParaRPr lang="en-US" sz="1000">
                        <a:solidFill>
                          <a:schemeClr val="dk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664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0"/>
          <p:cNvSpPr txBox="1">
            <a:spLocks noGrp="1"/>
          </p:cNvSpPr>
          <p:nvPr>
            <p:ph type="title" idx="0"/>
          </p:nvPr>
        </p:nvSpPr>
        <p:spPr>
          <a:xfrm>
            <a:off x="1790700" y="1709739"/>
            <a:ext cx="8601076" cy="18580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altLang="ko-KR" sz="3300" b="1">
                <a:latin typeface="Calibri"/>
                <a:cs typeface="Calibri"/>
              </a:rPr>
              <a:t>Whole Brain Architecture</a:t>
            </a:r>
            <a:endParaRPr lang="en-US" altLang="ko-KR" sz="3300" b="1">
              <a:latin typeface="Calibri"/>
              <a:cs typeface="Calibri"/>
            </a:endParaRPr>
          </a:p>
        </p:txBody>
      </p:sp>
      <p:sp>
        <p:nvSpPr>
          <p:cNvPr id="106" name="Google Shape;106;p40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96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1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cs typeface="Calibri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9</a:t>
            </a:fld>
            <a:endParaRPr 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6" name="Google Shape;116;p41"/>
          <p:cNvSpPr txBox="1"/>
          <p:nvPr/>
        </p:nvSpPr>
        <p:spPr>
          <a:xfrm>
            <a:off x="1524000" y="6170445"/>
            <a:ext cx="9144000" cy="21890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Parvathy et al., </a:t>
            </a:r>
            <a:r>
              <a:rPr lang="en-US" sz="900" b="1" i="0" u="none" strike="noStrike" cap="none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2021</a:t>
            </a:r>
            <a:r>
              <a:rPr lang="en-US" sz="900" b="0" i="0" u="none" strike="noStrike" cap="none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. Codon usage bias. </a:t>
            </a:r>
            <a:r>
              <a:rPr lang="en-US" sz="900" b="0" i="1" u="none" strike="noStrike" cap="none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Molecular Biology Reports</a:t>
            </a:r>
            <a:r>
              <a:rPr lang="en-US" sz="900" b="0" i="0" u="none" strike="noStrike" cap="none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, 1-27.</a:t>
            </a:r>
            <a:endParaRPr sz="900" b="0" i="0" u="none" strike="noStrike" cap="none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17" name="Google Shape;117;p41"/>
          <p:cNvSpPr txBox="1"/>
          <p:nvPr/>
        </p:nvSpPr>
        <p:spPr>
          <a:xfrm>
            <a:off x="1761067" y="168408"/>
            <a:ext cx="8610600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altLang="ko-KR" sz="3600" b="1" i="0" u="none" strike="noStrike" cap="none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Whole Brain Architecture </a:t>
            </a:r>
            <a:endParaRPr lang="en-US" altLang="ko-KR" sz="3600" b="1" i="0" u="none" strike="noStrike" cap="none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18" name="Google Shape;118;p41"/>
          <p:cNvSpPr txBox="1">
            <a:spLocks noGrp="1"/>
          </p:cNvSpPr>
          <p:nvPr>
            <p:ph type="ftr" idx="11"/>
          </p:nvPr>
        </p:nvSpPr>
        <p:spPr>
          <a:xfrm>
            <a:off x="4552950" y="647827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>
                <a:solidFill>
                  <a:srgbClr val="000000"/>
                </a:solidFill>
                <a:latin typeface="Calibri"/>
                <a:cs typeface="Calibri"/>
              </a:rPr>
              <a:t>Confidential</a:t>
            </a:r>
            <a:endParaRPr>
              <a:solidFill>
                <a:srgbClr val="000000"/>
              </a:solidFill>
              <a:latin typeface="Calibri"/>
              <a:cs typeface="Calibri"/>
            </a:endParaRPr>
          </a:p>
        </p:txBody>
      </p:sp>
      <p:graphicFrame>
        <p:nvGraphicFramePr>
          <p:cNvPr id="119" name="Table 0"/>
          <p:cNvGraphicFramePr>
            <a:graphicFrameLocks noGrp="1"/>
          </p:cNvGraphicFramePr>
          <p:nvPr/>
        </p:nvGraphicFramePr>
        <p:xfrm>
          <a:off x="226406" y="887286"/>
          <a:ext cx="11695416" cy="4017782"/>
        </p:xfrm>
        <a:graphic>
          <a:graphicData uri="http://schemas.openxmlformats.org/drawingml/2006/table">
            <a:tbl>
              <a:tblPr firstRow="1" bandRow="1"/>
              <a:tblGrid>
                <a:gridCol w="1693130"/>
                <a:gridCol w="2297430"/>
                <a:gridCol w="4327306"/>
                <a:gridCol w="3377549"/>
              </a:tblGrid>
              <a:tr h="416838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ko-KR" altLang="en-US" sz="1000" b="1">
                          <a:solidFill>
                            <a:schemeClr val="lt1"/>
                          </a:solidFill>
                          <a:latin typeface="Calibri"/>
                          <a:cs typeface="Calibri"/>
                        </a:rPr>
                        <a:t>핵심 세포유형</a:t>
                      </a:r>
                      <a:endParaRPr lang="ko-KR" altLang="en-US" sz="1000" b="1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altLang="ko-KR" sz="1000" b="1">
                          <a:solidFill>
                            <a:schemeClr val="lt1"/>
                          </a:solidFill>
                          <a:latin typeface="Calibri"/>
                          <a:cs typeface="Calibri"/>
                        </a:rPr>
                        <a:t>연결되는 G2C 뇌부위</a:t>
                      </a:r>
                      <a:endParaRPr lang="en-US" altLang="ko-KR" sz="1000" b="1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altLang="ko-KR" sz="1000" b="1">
                          <a:solidFill>
                            <a:schemeClr val="lt1"/>
                          </a:solidFill>
                          <a:latin typeface="Calibri"/>
                          <a:cs typeface="Calibri"/>
                        </a:rPr>
                        <a:t>G2C와 비교</a:t>
                      </a:r>
                      <a:endParaRPr lang="en-US" altLang="ko-KR" sz="1000" b="1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altLang="ko-KR" sz="1000" b="1">
                          <a:solidFill>
                            <a:schemeClr val="lt1"/>
                          </a:solidFill>
                          <a:latin typeface="Calibri"/>
                          <a:cs typeface="Calibri"/>
                        </a:rPr>
                        <a:t>코돈 최적화에서 의미</a:t>
                      </a:r>
                      <a:endParaRPr lang="en-US" altLang="ko-KR" sz="1000" b="1">
                        <a:solidFill>
                          <a:schemeClr val="lt1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b1d26"/>
                    </a:solidFill>
                  </a:tcPr>
                </a:tc>
              </a:tr>
              <a:tr h="707423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Excitatory pyramidal neuron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Superior/Middle/Inferior Frontal Gyrus, Precentral Gyrus, Postcentral Gyrus, Parietal Lobule, Precuneus, Superior/Middle/Inferior Temporal Gyrus, Cingulate Gyrus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G2C의 대뇌피질 구조 대부분에 공통으로 존재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“대뇌피질 neuron-general” 최적화의 기본 타깃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PV-positive interneuron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대뇌피질 전반, Hippocampus, Amygdala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G2C에는 interneuron이 따로 없고, cortex/hippocampus 안에 포함됨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억제성 회로, 간질·자폐·회로 불균형 질환에서 중요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Hippocampal CA1 pyramidal neuron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Hippocampus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G2C에서는 Hippocampus 하나로 보이지만 실제로 CA1/CA3/DG로 더 세분화 필요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기억·학습·알츠하이머 관련 유전자 발현 타깃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Dentate gyrus granule cell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Hippocampus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G2C의 Hippocampus 내부 하위 세포유형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Kapur 2024 계열 tRNA/codon 연구와 연결성이 좋음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Dopaminergic neuron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Midbrain, Basal Ganglia, Caudate Nucleus, Putamen, Nucleus Accumbens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G2C에서는 Midbrain과 basal ganglia 회로로 표현됨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파킨슨병, 보상회로, 운동회로 타깃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5712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Motor neuron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Spinal Cord, Medulla Oblongata, Pons, Midbrain, Precentral Gyrus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G2C에서는 척수·뇌간·운동피질로 나뉨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 algn="ctr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SMA, ALS, 운동신경질환 유전자치료 핵심</a:t>
                      </a:r>
                      <a:endParaRPr lang="en-US" sz="950">
                        <a:solidFill>
                          <a:srgbClr val="0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157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1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>
                <a:latin typeface="Calibri"/>
                <a:cs typeface="Calibri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10</a:t>
            </a:fld>
            <a:endParaRPr lang="en-US">
              <a:latin typeface="Calibri"/>
              <a:cs typeface="Calibri"/>
            </a:endParaRPr>
          </a:p>
        </p:txBody>
      </p:sp>
      <p:sp>
        <p:nvSpPr>
          <p:cNvPr id="116" name="Google Shape;116;p41"/>
          <p:cNvSpPr txBox="1"/>
          <p:nvPr/>
        </p:nvSpPr>
        <p:spPr>
          <a:xfrm>
            <a:off x="1524000" y="6170445"/>
            <a:ext cx="9144000" cy="21890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cs typeface="Calibri"/>
              </a:rPr>
              <a:t>Kapur (2024); Plotkin (2004); Pechmann (2013); Cirzi (2023); Faust (2013) JCI</a:t>
            </a:r>
            <a:endParaRPr sz="900" b="0" i="0" u="none" strike="noStrike" cap="none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17" name="Google Shape;117;p41"/>
          <p:cNvSpPr txBox="1"/>
          <p:nvPr/>
        </p:nvSpPr>
        <p:spPr>
          <a:xfrm>
            <a:off x="407367" y="168408"/>
            <a:ext cx="10729192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>
              <a:buNone/>
              <a:defRPr/>
            </a:pPr>
            <a:r>
              <a:rPr lang="en-US" altLang="ko-KR" sz="3600" b="1">
                <a:solidFill>
                  <a:srgbClr val="000000"/>
                </a:solidFill>
                <a:latin typeface="Calibri"/>
                <a:cs typeface="Calibri"/>
              </a:rPr>
              <a:t>Proposed Pipeline</a:t>
            </a:r>
            <a:r>
              <a:rPr lang="en-US" sz="3600" b="1">
                <a:solidFill>
                  <a:srgbClr val="000000"/>
                </a:solidFill>
                <a:latin typeface="Calibri"/>
                <a:cs typeface="Calibri"/>
              </a:rPr>
              <a:t> — Cerebellum</a:t>
            </a:r>
            <a:r>
              <a:rPr lang="en-US" altLang="ko-KR" sz="36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1">
                <a:solidFill>
                  <a:srgbClr val="000000"/>
                </a:solidFill>
                <a:latin typeface="Calibri"/>
                <a:cs typeface="Calibri"/>
              </a:rPr>
              <a:t>Pipeline</a:t>
            </a:r>
            <a:endParaRPr lang="en-US" sz="3600" b="1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8" name="Google Shape;118;p41"/>
          <p:cNvSpPr txBox="1">
            <a:spLocks noGrp="1"/>
          </p:cNvSpPr>
          <p:nvPr>
            <p:ph type="ftr" idx="11"/>
          </p:nvPr>
        </p:nvSpPr>
        <p:spPr>
          <a:xfrm>
            <a:off x="4552950" y="647827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>
                <a:latin typeface="Calibri"/>
                <a:cs typeface="Calibri"/>
              </a:rPr>
              <a:t>Confidential</a:t>
            </a:r>
            <a:endParaRPr>
              <a:latin typeface="Calibri"/>
              <a:cs typeface="Calibri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1830323" y="1211328"/>
            <a:ext cx="1508760" cy="6858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Calibri"/>
              <a:cs typeface="Calibri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1830323" y="121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3D Brain에서</a:t>
            </a:r>
            <a:endParaRPr lang="en-US" sz="900" b="1">
              <a:solidFill>
                <a:srgbClr val="ffffff"/>
              </a:solidFill>
              <a:latin typeface="Calibri"/>
              <a:cs typeface="Calibri"/>
            </a:endParaRPr>
          </a:p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Cerebellum 선택</a:t>
            </a:r>
            <a:endParaRPr lang="en-US" sz="900">
              <a:latin typeface="Calibri"/>
              <a:cs typeface="Calibri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339084" y="1302768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>
                <a:solidFill>
                  <a:srgbClr val="64748b"/>
                </a:solidFill>
                <a:latin typeface="Calibri"/>
                <a:cs typeface="Calibri"/>
              </a:rPr>
              <a:t>→</a:t>
            </a:r>
            <a:endParaRPr lang="en-US" sz="1600">
              <a:latin typeface="Calibri"/>
              <a:cs typeface="Calibri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3585972" y="1211328"/>
            <a:ext cx="1508760" cy="685800"/>
          </a:xfrm>
          <a:prstGeom prst="rect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Calibri"/>
              <a:cs typeface="Calibri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3585972" y="121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세포 유형 선택</a:t>
            </a:r>
            <a:endParaRPr lang="en-US" sz="900" b="1">
              <a:solidFill>
                <a:srgbClr val="ffffff"/>
              </a:solidFill>
              <a:latin typeface="Calibri"/>
              <a:cs typeface="Calibri"/>
            </a:endParaRPr>
          </a:p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(Purkinje/Granule)</a:t>
            </a:r>
            <a:endParaRPr lang="en-US" sz="900">
              <a:latin typeface="Calibri"/>
              <a:cs typeface="Calibri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5094732" y="1302768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>
                <a:solidFill>
                  <a:srgbClr val="64748b"/>
                </a:solidFill>
                <a:latin typeface="Calibri"/>
                <a:cs typeface="Calibri"/>
              </a:rPr>
              <a:t>→</a:t>
            </a:r>
            <a:endParaRPr lang="en-US" sz="1600">
              <a:latin typeface="Calibri"/>
              <a:cs typeface="Calibri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5341620" y="1211328"/>
            <a:ext cx="1508760" cy="685800"/>
          </a:xfrm>
          <a:prstGeom prst="rect">
            <a:avLst/>
          </a:prstGeom>
          <a:solidFill>
            <a:srgbClr val="7c3ae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Calibri"/>
              <a:cs typeface="Calibri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5341620" y="121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tRNA 풀 기반</a:t>
            </a:r>
            <a:endParaRPr lang="en-US" sz="900" b="1">
              <a:solidFill>
                <a:srgbClr val="ffffff"/>
              </a:solidFill>
              <a:latin typeface="Calibri"/>
              <a:cs typeface="Calibri"/>
            </a:endParaRPr>
          </a:p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코돈 가중치 계산</a:t>
            </a:r>
            <a:endParaRPr lang="en-US" sz="900">
              <a:latin typeface="Calibri"/>
              <a:cs typeface="Calibri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6850380" y="1302768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>
                <a:solidFill>
                  <a:srgbClr val="64748b"/>
                </a:solidFill>
                <a:latin typeface="Calibri"/>
                <a:cs typeface="Calibri"/>
              </a:rPr>
              <a:t>→</a:t>
            </a:r>
            <a:endParaRPr lang="en-US" sz="1600">
              <a:latin typeface="Calibri"/>
              <a:cs typeface="Calibri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7097268" y="1211328"/>
            <a:ext cx="1508760" cy="685800"/>
          </a:xfrm>
          <a:prstGeom prst="rect">
            <a:avLst/>
          </a:prstGeom>
          <a:solidFill>
            <a:srgbClr val="ea580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Calibri"/>
              <a:cs typeface="Calibri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7097268" y="121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다목적</a:t>
            </a:r>
            <a:endParaRPr lang="en-US" sz="900" b="1">
              <a:solidFill>
                <a:srgbClr val="ffffff"/>
              </a:solidFill>
              <a:latin typeface="Calibri"/>
              <a:cs typeface="Calibri"/>
            </a:endParaRPr>
          </a:p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코돈 최적화</a:t>
            </a:r>
            <a:endParaRPr lang="en-US" sz="900">
              <a:latin typeface="Calibri"/>
              <a:cs typeface="Calibri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8606028" y="1302768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>
                <a:solidFill>
                  <a:srgbClr val="64748b"/>
                </a:solidFill>
                <a:latin typeface="Calibri"/>
                <a:cs typeface="Calibri"/>
              </a:rPr>
              <a:t>→</a:t>
            </a:r>
            <a:endParaRPr lang="en-US" sz="1600">
              <a:latin typeface="Calibri"/>
              <a:cs typeface="Calibri"/>
            </a:endParaRPr>
          </a:p>
        </p:txBody>
      </p:sp>
      <p:sp>
        <p:nvSpPr>
          <p:cNvPr id="132" name="Shape 14"/>
          <p:cNvSpPr/>
          <p:nvPr/>
        </p:nvSpPr>
        <p:spPr>
          <a:xfrm>
            <a:off x="8852916" y="1211328"/>
            <a:ext cx="1508760" cy="685800"/>
          </a:xfrm>
          <a:prstGeom prst="rect">
            <a:avLst/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en-US" altLang="ko-KR">
              <a:latin typeface="Calibri"/>
              <a:cs typeface="Calibri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8852916" y="121132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품질 분석</a:t>
            </a:r>
            <a:endParaRPr lang="en-US" sz="900" b="1">
              <a:solidFill>
                <a:srgbClr val="ffffff"/>
              </a:solidFill>
              <a:latin typeface="Calibri"/>
              <a:cs typeface="Calibri"/>
            </a:endParaRPr>
          </a:p>
          <a:p>
            <a:pPr marL="0" lv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cs typeface="Calibri"/>
              </a:rPr>
              <a:t>리포트 생성</a:t>
            </a:r>
            <a:endParaRPr lang="en-US" sz="900">
              <a:latin typeface="Calibri"/>
              <a:cs typeface="Calibri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1525095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0b1d26"/>
                </a:solidFill>
                <a:latin typeface="Calibri"/>
                <a:cs typeface="Calibri"/>
              </a:rPr>
              <a:t>다목적 최적화 파라미터</a:t>
            </a:r>
            <a:endParaRPr lang="en-US" sz="1500">
              <a:latin typeface="Calibri"/>
              <a:cs typeface="Calibri"/>
            </a:endParaRPr>
          </a:p>
        </p:txBody>
      </p:sp>
      <p:sp>
        <p:nvSpPr>
          <p:cNvPr id="135" name="Shape 17"/>
          <p:cNvSpPr/>
          <p:nvPr/>
        </p:nvSpPr>
        <p:spPr>
          <a:xfrm>
            <a:off x="1616535" y="331927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/>
          <a:p>
            <a:pPr lvl="0" algn="ctr">
              <a:defRPr/>
            </a:pPr>
            <a:endParaRPr lang="en-US" altLang="ko-KR" sz="2000">
              <a:latin typeface="Calibri"/>
              <a:cs typeface="Calibri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1890855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cs typeface="Calibri"/>
              </a:rPr>
              <a:t>세포별 tRNA-adapted CAI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4451175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cs typeface="Calibri"/>
              </a:rPr>
              <a:t>Kapur (2024) tRNA 풀 + Plotkin (2004) 진화 보존 데이터 기반</a:t>
            </a:r>
            <a:endParaRPr lang="en-US" sz="1100">
              <a:latin typeface="Calibri"/>
              <a:cs typeface="Calibri"/>
            </a:endParaRPr>
          </a:p>
        </p:txBody>
      </p:sp>
      <p:sp>
        <p:nvSpPr>
          <p:cNvPr id="138" name="Shape 20"/>
          <p:cNvSpPr/>
          <p:nvPr/>
        </p:nvSpPr>
        <p:spPr>
          <a:xfrm>
            <a:off x="1616535" y="373075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/>
          <a:p>
            <a:pPr lvl="0" algn="ctr">
              <a:defRPr/>
            </a:pPr>
            <a:endParaRPr lang="en-US" altLang="ko-KR" sz="2000">
              <a:latin typeface="Calibri"/>
              <a:cs typeface="Calibri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1890855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cs typeface="Calibri"/>
              </a:rPr>
              <a:t>CpG 디뉴클레오타이드 최소화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4451175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cs typeface="Calibri"/>
              </a:rPr>
              <a:t>TLR9 면역 반응 + ZAP RNA 분해 회피 (뇌 신경독성 방지)</a:t>
            </a:r>
            <a:endParaRPr lang="en-US" sz="1100">
              <a:latin typeface="Calibri"/>
              <a:cs typeface="Calibri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1616535" y="414223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/>
          <a:p>
            <a:pPr lvl="0" algn="ctr">
              <a:defRPr/>
            </a:pPr>
            <a:endParaRPr lang="en-US" altLang="ko-KR" sz="2000">
              <a:latin typeface="Calibri"/>
              <a:cs typeface="Calibri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1890855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cs typeface="Calibri"/>
              </a:rPr>
              <a:t>Rare 코돈 클러스터 보존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143" name="Text 25"/>
          <p:cNvSpPr/>
          <p:nvPr/>
        </p:nvSpPr>
        <p:spPr>
          <a:xfrm>
            <a:off x="4451175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cs typeface="Calibri"/>
              </a:rPr>
              <a:t>도메인 경계 접힘 일시정지 유지 (Pechmann 2013)</a:t>
            </a:r>
            <a:endParaRPr lang="en-US" sz="1100">
              <a:latin typeface="Calibri"/>
              <a:cs typeface="Calibri"/>
            </a:endParaRPr>
          </a:p>
        </p:txBody>
      </p:sp>
      <p:sp>
        <p:nvSpPr>
          <p:cNvPr id="144" name="Shape 26"/>
          <p:cNvSpPr/>
          <p:nvPr/>
        </p:nvSpPr>
        <p:spPr>
          <a:xfrm>
            <a:off x="1616535" y="455371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/>
          <a:p>
            <a:pPr lvl="0" algn="ctr">
              <a:defRPr/>
            </a:pPr>
            <a:endParaRPr lang="en-US" altLang="ko-KR" sz="2000">
              <a:latin typeface="Calibri"/>
              <a:cs typeface="Calibri"/>
            </a:endParaRPr>
          </a:p>
        </p:txBody>
      </p:sp>
      <p:sp>
        <p:nvSpPr>
          <p:cNvPr id="145" name="Text 27"/>
          <p:cNvSpPr/>
          <p:nvPr/>
        </p:nvSpPr>
        <p:spPr>
          <a:xfrm>
            <a:off x="1890855" y="4480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cs typeface="Calibri"/>
              </a:rPr>
              <a:t>mRNA 이차구조 ΔG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146" name="Text 28"/>
          <p:cNvSpPr/>
          <p:nvPr/>
        </p:nvSpPr>
        <p:spPr>
          <a:xfrm>
            <a:off x="4451175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cs typeface="Calibri"/>
              </a:rPr>
              <a:t>5' UTR 근처 안정적 헤어핀 제거 → 번역 개시 효율</a:t>
            </a:r>
            <a:endParaRPr lang="en-US" sz="1100">
              <a:latin typeface="Calibri"/>
              <a:cs typeface="Calibri"/>
            </a:endParaRPr>
          </a:p>
        </p:txBody>
      </p:sp>
      <p:sp>
        <p:nvSpPr>
          <p:cNvPr id="147" name="Shape 29"/>
          <p:cNvSpPr/>
          <p:nvPr/>
        </p:nvSpPr>
        <p:spPr>
          <a:xfrm>
            <a:off x="1616535" y="496519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/>
          <a:p>
            <a:pPr lvl="0" algn="ctr">
              <a:defRPr/>
            </a:pPr>
            <a:endParaRPr lang="en-US" altLang="ko-KR" sz="2000">
              <a:latin typeface="Calibri"/>
              <a:cs typeface="Calibri"/>
            </a:endParaRPr>
          </a:p>
        </p:txBody>
      </p:sp>
      <p:sp>
        <p:nvSpPr>
          <p:cNvPr id="148" name="Text 30"/>
          <p:cNvSpPr/>
          <p:nvPr/>
        </p:nvSpPr>
        <p:spPr>
          <a:xfrm>
            <a:off x="1890855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cs typeface="Calibri"/>
              </a:rPr>
              <a:t>Q-코돈 최적화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149" name="Text 31"/>
          <p:cNvSpPr/>
          <p:nvPr/>
        </p:nvSpPr>
        <p:spPr>
          <a:xfrm>
            <a:off x="4451175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cs typeface="Calibri"/>
              </a:rPr>
              <a:t>퀴오신 변형 tRNA (Asn, Asp, His, Tyr) → 뇌에서 특히 중요</a:t>
            </a:r>
            <a:endParaRPr lang="en-US" sz="1100">
              <a:latin typeface="Calibri"/>
              <a:cs typeface="Calibri"/>
            </a:endParaRPr>
          </a:p>
        </p:txBody>
      </p:sp>
      <p:sp>
        <p:nvSpPr>
          <p:cNvPr id="150" name="Shape 32"/>
          <p:cNvSpPr/>
          <p:nvPr/>
        </p:nvSpPr>
        <p:spPr>
          <a:xfrm>
            <a:off x="1616535" y="537667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/>
          <a:p>
            <a:pPr lvl="0" algn="ctr">
              <a:defRPr/>
            </a:pPr>
            <a:endParaRPr lang="en-US" altLang="ko-KR" sz="2000">
              <a:latin typeface="Calibri"/>
              <a:cs typeface="Calibri"/>
            </a:endParaRPr>
          </a:p>
        </p:txBody>
      </p:sp>
      <p:sp>
        <p:nvSpPr>
          <p:cNvPr id="151" name="Text 33"/>
          <p:cNvSpPr/>
          <p:nvPr/>
        </p:nvSpPr>
        <p:spPr>
          <a:xfrm>
            <a:off x="1890855" y="5303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cs typeface="Calibri"/>
              </a:rPr>
              <a:t>GC 함량 30~70%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152" name="Text 34"/>
          <p:cNvSpPr/>
          <p:nvPr/>
        </p:nvSpPr>
        <p:spPr>
          <a:xfrm>
            <a:off x="4451175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cs typeface="Calibri"/>
              </a:rPr>
              <a:t>너무 높으면 CpG 증가, 너무 낮으면 mRNA 불안정</a:t>
            </a:r>
            <a:endParaRPr lang="en-US" sz="1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0098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0"/>
          <p:cNvSpPr txBox="1">
            <a:spLocks noGrp="1"/>
          </p:cNvSpPr>
          <p:nvPr>
            <p:ph type="title" idx="0"/>
          </p:nvPr>
        </p:nvSpPr>
        <p:spPr>
          <a:xfrm>
            <a:off x="1790700" y="1709739"/>
            <a:ext cx="8601076" cy="18580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altLang="ko-KR" sz="3300" b="1">
                <a:latin typeface="Calibri"/>
                <a:cs typeface="Calibri"/>
              </a:rPr>
              <a:t>Brain Data Implementation Progress</a:t>
            </a:r>
            <a:endParaRPr lang="en-US" altLang="ko-KR" sz="3300" b="1">
              <a:latin typeface="Calibri"/>
              <a:cs typeface="Calibri"/>
            </a:endParaRPr>
          </a:p>
        </p:txBody>
      </p:sp>
      <p:sp>
        <p:nvSpPr>
          <p:cNvPr id="106" name="Google Shape;106;p40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65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1"/>
          <p:cNvSpPr txBox="1">
            <a:spLocks noGrp="1"/>
          </p:cNvSpPr>
          <p:nvPr>
            <p:ph type="sldNum" idx="12"/>
          </p:nvPr>
        </p:nvSpPr>
        <p:spPr>
          <a:xfrm>
            <a:off x="7981950" y="6478271"/>
            <a:ext cx="241935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10</a:t>
            </a:fld>
            <a:endParaRPr lang="en-US"/>
          </a:p>
        </p:txBody>
      </p:sp>
      <p:sp>
        <p:nvSpPr>
          <p:cNvPr id="116" name="Google Shape;116;p41"/>
          <p:cNvSpPr txBox="1"/>
          <p:nvPr/>
        </p:nvSpPr>
        <p:spPr>
          <a:xfrm>
            <a:off x="1524000" y="6170445"/>
            <a:ext cx="9144000" cy="23083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Parvathy et al., </a:t>
            </a:r>
            <a:r>
              <a:rPr lang="en-US" sz="9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r>
              <a:rPr lang="en-US" sz="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. Codon usage bias. </a:t>
            </a:r>
            <a:r>
              <a:rPr lang="en-US" sz="900" b="0" i="1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Molecular Biology Reports</a:t>
            </a:r>
            <a:r>
              <a:rPr lang="en-US" sz="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1-27.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1"/>
          <p:cNvSpPr txBox="1"/>
          <p:nvPr/>
        </p:nvSpPr>
        <p:spPr>
          <a:xfrm>
            <a:off x="1761067" y="168408"/>
            <a:ext cx="8610600" cy="54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altLang="ko-K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 Data </a:t>
            </a:r>
            <a:endParaRPr lang="en-US" altLang="ko-KR"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1"/>
          <p:cNvSpPr txBox="1">
            <a:spLocks noGrp="1"/>
          </p:cNvSpPr>
          <p:nvPr>
            <p:ph type="ftr" idx="11"/>
          </p:nvPr>
        </p:nvSpPr>
        <p:spPr>
          <a:xfrm>
            <a:off x="4552950" y="647827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Confidential</a:t>
            </a:r>
            <a:endParaRPr/>
          </a:p>
        </p:txBody>
      </p:sp>
      <p:sp>
        <p:nvSpPr>
          <p:cNvPr id="119" name="Shape 3"/>
          <p:cNvSpPr/>
          <p:nvPr/>
        </p:nvSpPr>
        <p:spPr>
          <a:xfrm>
            <a:off x="734120" y="908720"/>
            <a:ext cx="105295" cy="720080"/>
          </a:xfrm>
          <a:prstGeom prst="rect">
            <a:avLst/>
          </a:prstGeom>
          <a:solidFill>
            <a:srgbClr val="059669"/>
          </a:solidFill>
          <a:ln/>
        </p:spPr>
        <p:txBody>
          <a:bodyPr anchor="ctr"/>
          <a:p>
            <a:pPr lvl="0" algn="ctr">
              <a:defRPr/>
            </a:pPr>
            <a:endParaRPr lang="en-US" altLang="ko-KR" sz="2300" b="1"/>
          </a:p>
        </p:txBody>
      </p:sp>
      <p:sp>
        <p:nvSpPr>
          <p:cNvPr id="120" name="Text 4"/>
          <p:cNvSpPr/>
          <p:nvPr/>
        </p:nvSpPr>
        <p:spPr>
          <a:xfrm>
            <a:off x="1155049" y="908720"/>
            <a:ext cx="3860831" cy="72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059669"/>
                </a:solidFill>
                <a:latin typeface="Trebuchet MS"/>
                <a:ea typeface="Trebuchet MS"/>
                <a:cs typeface="Trebuchet MS"/>
              </a:rPr>
              <a:t>CC BY 4.0 (현재 사용)</a:t>
            </a:r>
            <a:endParaRPr lang="en-US" sz="1500" b="1"/>
          </a:p>
        </p:txBody>
      </p:sp>
      <p:sp>
        <p:nvSpPr>
          <p:cNvPr id="121" name="Text 5"/>
          <p:cNvSpPr/>
          <p:nvPr/>
        </p:nvSpPr>
        <p:spPr>
          <a:xfrm>
            <a:off x="3503712" y="908720"/>
            <a:ext cx="6668708" cy="72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수정/재배포/상업적 사용 가능. 출처 표기만.</a:t>
            </a:r>
            <a:endParaRPr lang="en-US" sz="1400" b="1"/>
          </a:p>
        </p:txBody>
      </p:sp>
      <p:sp>
        <p:nvSpPr>
          <p:cNvPr id="122" name="Text 6"/>
          <p:cNvSpPr/>
          <p:nvPr/>
        </p:nvSpPr>
        <p:spPr>
          <a:xfrm>
            <a:off x="7464152" y="908720"/>
            <a:ext cx="4211816" cy="72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Sketchfab 오픈 모델</a:t>
            </a:r>
            <a:endParaRPr lang="en-US" sz="1400" b="1"/>
          </a:p>
        </p:txBody>
      </p:sp>
      <p:pic>
        <p:nvPicPr>
          <p:cNvPr id="123" name="0518_G2C_Basal.mp4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1343472" y="1935708"/>
            <a:ext cx="2674450" cy="3365499"/>
          </a:xfrm>
          <a:prstGeom prst="rect">
            <a:avLst/>
          </a:prstGeom>
        </p:spPr>
      </p:pic>
      <p:sp>
        <p:nvSpPr>
          <p:cNvPr id="124" name="가로 글상자 123"/>
          <p:cNvSpPr txBox="1"/>
          <p:nvPr/>
        </p:nvSpPr>
        <p:spPr>
          <a:xfrm>
            <a:off x="1127448" y="5373216"/>
            <a:ext cx="3168352" cy="358929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b="1">
                <a:latin typeface="Calibri"/>
                <a:cs typeface="Calibri"/>
              </a:rPr>
              <a:t>G2C_Basal Ganglia</a:t>
            </a:r>
            <a:endParaRPr lang="en-US" altLang="ko-KR" b="1">
              <a:latin typeface="Calibri"/>
              <a:cs typeface="Calibri"/>
            </a:endParaRPr>
          </a:p>
        </p:txBody>
      </p:sp>
      <p:pic>
        <p:nvPicPr>
          <p:cNvPr id="125" name="0518_PDSE_Basal.mp4">
            <a:hlinkClick r:id="" action="ppaction://media"/>
          </p:cNvPr>
          <p:cNvPicPr>
            <a:picLocks noRot="1"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 rotWithShape="1">
          <a:blip r:embed="rId8"/>
          <a:stretch>
            <a:fillRect/>
          </a:stretch>
        </p:blipFill>
        <p:spPr>
          <a:xfrm>
            <a:off x="5610427" y="1829111"/>
            <a:ext cx="4314783" cy="3568837"/>
          </a:xfrm>
          <a:prstGeom prst="rect">
            <a:avLst/>
          </a:prstGeom>
        </p:spPr>
      </p:pic>
      <p:sp>
        <p:nvSpPr>
          <p:cNvPr id="126" name="가로 글상자 125"/>
          <p:cNvSpPr txBox="1"/>
          <p:nvPr/>
        </p:nvSpPr>
        <p:spPr>
          <a:xfrm>
            <a:off x="6312024" y="5474943"/>
            <a:ext cx="3168352" cy="361977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b="1">
                <a:latin typeface="Calibri"/>
                <a:cs typeface="Calibri"/>
              </a:rPr>
              <a:t>PDSE_Basal Ganglia</a:t>
            </a:r>
            <a:endParaRPr lang="en-US" altLang="ko-KR" b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2788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6766" fill="hold"/>
                                        <p:tgtEl>
                                          <p:spTgt spid="1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4866" fill="hold"/>
                                        <p:tgtEl>
                                          <p:spTgt spid="1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25"/>
                </p:tgtEl>
              </p:cMediaNode>
            </p:video>
          </p:childTnLst>
        </p:cTn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Custom 3">
      <a:majorFont>
        <a:latin typeface="Roboto"/>
        <a:ea typeface="Arial"/>
        <a:cs typeface="Arial"/>
      </a:majorFont>
      <a:minorFont>
        <a:latin typeface="Robot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rgbClr val="00000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448</ep:Words>
  <ep:PresentationFormat>와이드스크린</ep:PresentationFormat>
  <ep:Paragraphs>122</ep:Paragraphs>
  <ep:Slides>12</ep:Slides>
  <ep:Notes>12</ep:Notes>
  <ep:TotalTime>0</ep:TotalTime>
  <ep:HiddenSlides>0</ep:HiddenSlides>
  <ep:MMClips>2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ep:HeadingPairs>
  <ep:TitlesOfParts>
    <vt:vector size="14" baseType="lpstr">
      <vt:lpstr>Banded Design Blue 16x9</vt:lpstr>
      <vt:lpstr>Office 테마</vt:lpstr>
      <vt:lpstr>Visualization of Brain Architecture of Codon Optimization</vt:lpstr>
      <vt:lpstr>Contents</vt:lpstr>
      <vt:lpstr>Why Brain-Region and Cell-Type-Specific Codon Optimization Matters</vt:lpstr>
      <vt:lpstr>슬라이드 4</vt:lpstr>
      <vt:lpstr>슬라이드 5</vt:lpstr>
      <vt:lpstr>Codon Optimization Applications</vt:lpstr>
      <vt:lpstr>슬라이드 7</vt:lpstr>
      <vt:lpstr>Whole Brain Architecture</vt:lpstr>
      <vt:lpstr>슬라이드 9</vt:lpstr>
      <vt:lpstr>슬라이드 10</vt:lpstr>
      <vt:lpstr>Brain Data Implementation Progress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2017-06-13T09:39:50.000</dcterms:created>
  <dc:creator>Eugenio Morocho</dc:creator>
  <cp:lastModifiedBy>kimjo</cp:lastModifiedBy>
  <dcterms:modified xsi:type="dcterms:W3CDTF">2026-05-18T04:39:48.223</dcterms:modified>
  <cp:revision>2440</cp:revision>
  <dc:title>Business Project Plan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